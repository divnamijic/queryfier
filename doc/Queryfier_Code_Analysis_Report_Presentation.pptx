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Calibri" panose="020F0502020204030204" pitchFamily="34" charset="0"/>
      <p:regular r:id="rId23"/>
      <p:bold r:id="rId24"/>
      <p:italic r:id="rId25"/>
      <p:boldItalic r:id="rId26"/>
    </p:embeddedFont>
    <p:embeddedFont>
      <p:font typeface="Lato" panose="020F0502020204030203" pitchFamily="34" charset="0"/>
      <p:regular r:id="rId27"/>
      <p:bold r:id="rId28"/>
      <p:italic r:id="rId29"/>
      <p:boldItalic r:id="rId30"/>
    </p:embeddedFont>
    <p:embeddedFont>
      <p:font typeface="Montserrat" pitchFamily="2" charset="0"/>
      <p:regular r:id="rId31"/>
      <p:bold r:id="rId32"/>
      <p:italic r:id="rId33"/>
      <p:boldItalic r:id="rId34"/>
    </p:embeddedFont>
    <p:embeddedFont>
      <p:font typeface="Quattrocento Sans" panose="020B0502050000020003"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hAXVLRZKpde+dV/6N/KE7RhaVqQ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07" d="100"/>
          <a:sy n="207" d="100"/>
        </p:scale>
        <p:origin x="460"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42" name="Google Shape;142;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50" name="Google Shape;150;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949cf0c9a0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g2949cf0c9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963e9b7ffc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g2963e9b7ff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9497ea7dba_0_1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Now what issue we are going to cover is the one that we purposely left out from this slide, which is…</a:t>
            </a:r>
            <a:endParaRPr/>
          </a:p>
        </p:txBody>
      </p:sp>
      <p:sp>
        <p:nvSpPr>
          <p:cNvPr id="195" name="Google Shape;195;g29497ea7dba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962df060c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962df060c2_1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2962df060c2_1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9497ea7dba_0_1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Cognitive Complexity.</a:t>
            </a:r>
            <a:endParaRPr/>
          </a:p>
          <a:p>
            <a:pPr marL="0" lvl="0" indent="0" algn="l" rtl="0">
              <a:spcBef>
                <a:spcPts val="0"/>
              </a:spcBef>
              <a:spcAft>
                <a:spcPts val="0"/>
              </a:spcAft>
              <a:buNone/>
            </a:pPr>
            <a:r>
              <a:rPr lang="en-US"/>
              <a:t>I want you remember this slide, remember any sort of information presented to you.</a:t>
            </a:r>
            <a:br>
              <a:rPr lang="en-US"/>
            </a:br>
            <a:r>
              <a:rPr lang="en-US"/>
              <a:t>For us, this appeared in the EdgeFileParser, which I am sure happened to you as well, where we also got “Brain Method” was detected - In short it is a method that performs too many operations making it difficult to understand, maintain, and reuse. It is characterized by high LOC number, high cyclomatic (more tests needed to test a single piece of code) and cognitive complexity, and a large number of variables being used.</a:t>
            </a:r>
            <a:endParaRPr/>
          </a:p>
          <a:p>
            <a:pPr marL="0" lvl="0" indent="0" algn="l" rtl="0">
              <a:spcBef>
                <a:spcPts val="0"/>
              </a:spcBef>
              <a:spcAft>
                <a:spcPts val="0"/>
              </a:spcAft>
              <a:buNone/>
            </a:pPr>
            <a:r>
              <a:rPr lang="en-US"/>
              <a:t>Last but not least is the number of break and continue statements -&gt; Because it was in a while loop, skipping a lot of lines that didn’t need to be read or further processed.</a:t>
            </a:r>
            <a:endParaRPr/>
          </a:p>
        </p:txBody>
      </p:sp>
      <p:sp>
        <p:nvSpPr>
          <p:cNvPr id="217" name="Google Shape;217;g29497ea7dba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949cf0c9a0_0_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In other words, how hard much information you need to retain to understand a piece of code, which on our case was the parse function in the EdgeFileParser - rant a bit over here, what was the issue?</a:t>
            </a:r>
            <a:endParaRPr/>
          </a:p>
          <a:p>
            <a:pPr marL="0" lvl="0" indent="0" algn="l" rtl="0">
              <a:spcBef>
                <a:spcPts val="0"/>
              </a:spcBef>
              <a:spcAft>
                <a:spcPts val="0"/>
              </a:spcAft>
              <a:buNone/>
            </a:pPr>
            <a:r>
              <a:rPr lang="en-US"/>
              <a:t>Control Flow Statements - “if” conditions, nested loops like “for”, “forEach”, “do-while”</a:t>
            </a:r>
            <a:endParaRPr/>
          </a:p>
        </p:txBody>
      </p:sp>
      <p:sp>
        <p:nvSpPr>
          <p:cNvPr id="226" name="Google Shape;226;g2949cf0c9a0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962df060c2_1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Difficult to maintain - I am sure that at some point you went back to your own old code trying to understand what you did there and thought to yourself: Who wrote this? - We don’t want this.</a:t>
            </a:r>
            <a:endParaRPr/>
          </a:p>
          <a:p>
            <a:pPr marL="0" lvl="0" indent="0" algn="l" rtl="0">
              <a:spcBef>
                <a:spcPts val="0"/>
              </a:spcBef>
              <a:spcAft>
                <a:spcPts val="0"/>
              </a:spcAft>
              <a:buNone/>
            </a:pPr>
            <a:r>
              <a:rPr lang="en-US"/>
              <a:t>Developers spending more time deciphering what the code does and have less time to write new features, resulting in not meeting deadlines</a:t>
            </a:r>
            <a:endParaRPr/>
          </a:p>
          <a:p>
            <a:pPr marL="0" lvl="0" indent="0" algn="l" rtl="0">
              <a:spcBef>
                <a:spcPts val="0"/>
              </a:spcBef>
              <a:spcAft>
                <a:spcPts val="0"/>
              </a:spcAft>
              <a:buNone/>
            </a:pPr>
            <a:r>
              <a:rPr lang="en-US"/>
              <a:t>Harder to understand code -&gt; Harder to explain the code -&gt; Harder to maintain code (so when a developer leaves, what then?)</a:t>
            </a:r>
            <a:endParaRPr/>
          </a:p>
          <a:p>
            <a:pPr marL="0" lvl="0" indent="0" algn="l" rtl="0">
              <a:spcBef>
                <a:spcPts val="0"/>
              </a:spcBef>
              <a:spcAft>
                <a:spcPts val="0"/>
              </a:spcAft>
              <a:buNone/>
            </a:pPr>
            <a:r>
              <a:rPr lang="en-US"/>
              <a:t>Quite obvious one, but do you really want to go through the process of “What did the author want to say?”, also quality and testing issues</a:t>
            </a:r>
            <a:endParaRPr/>
          </a:p>
        </p:txBody>
      </p:sp>
      <p:sp>
        <p:nvSpPr>
          <p:cNvPr id="235" name="Google Shape;235;g2962df060c2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964f44c3a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964f44c3a0_0_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g2964f44c3a0_0_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94df546f02_0_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In our case, what was our cognitive complexity? Does anybody remember? How do you get to that number? 78 (How much allowed? 15 allowed)</a:t>
            </a:r>
            <a:endParaRPr/>
          </a:p>
          <a:p>
            <a:pPr marL="0" lvl="0" indent="0" algn="l" rtl="0">
              <a:spcBef>
                <a:spcPts val="0"/>
              </a:spcBef>
              <a:spcAft>
                <a:spcPts val="0"/>
              </a:spcAft>
              <a:buNone/>
            </a:pPr>
            <a:r>
              <a:rPr lang="en-US"/>
              <a:t>We can’t go really in depth why is it that number, but to resolve it, we applied the following</a:t>
            </a:r>
            <a:endParaRPr/>
          </a:p>
        </p:txBody>
      </p:sp>
      <p:sp>
        <p:nvSpPr>
          <p:cNvPr id="252" name="Google Shape;252;g294df546f02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5e8c80f8d3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5e8c80f8d3_0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g25e8c80f8d3_0_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94df546f02_0_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g294df546f02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5e8c80f8d3_0_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25e8c80f8d3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963e9b7ffc_0_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g2963e9b7ff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The application took the longest to run at the initialization stage. This is where the JavaFX Framework comes into play which we don’t have the control over, since this is where the file parsing of the screen happens, as well as our initialization of the application on top.</a:t>
            </a:r>
            <a:endParaRPr/>
          </a:p>
          <a:p>
            <a:pPr marL="0" lvl="0" indent="0" algn="l" rtl="0">
              <a:spcBef>
                <a:spcPts val="0"/>
              </a:spcBef>
              <a:spcAft>
                <a:spcPts val="0"/>
              </a:spcAft>
              <a:buNone/>
            </a:pPr>
            <a:r>
              <a:rPr lang="en-US"/>
              <a:t>Other heatspots are the following… When choosing a file to import or open the project to, parsing the said file and the screen, setting up the screen and then finally show it.</a:t>
            </a:r>
            <a:endParaRPr/>
          </a:p>
          <a:p>
            <a:pPr marL="0" lvl="0" indent="0" algn="l" rtl="0">
              <a:spcBef>
                <a:spcPts val="0"/>
              </a:spcBef>
              <a:spcAft>
                <a:spcPts val="0"/>
              </a:spcAft>
              <a:buNone/>
            </a:pPr>
            <a:r>
              <a:rPr lang="en-US"/>
              <a:t>Next hotspot is the file exporting, as it needs to be converted to DDL statements, which takes a while.</a:t>
            </a:r>
            <a:endParaRPr/>
          </a:p>
          <a:p>
            <a:pPr marL="0" lvl="0" indent="0" algn="l" rtl="0">
              <a:spcBef>
                <a:spcPts val="0"/>
              </a:spcBef>
              <a:spcAft>
                <a:spcPts val="0"/>
              </a:spcAft>
              <a:buNone/>
            </a:pPr>
            <a:r>
              <a:rPr lang="en-US"/>
              <a:t>Last, but not least is the end of the application, where the application configuration is saved into a file.</a:t>
            </a:r>
            <a:endParaRPr/>
          </a:p>
          <a:p>
            <a:pPr marL="0" lvl="0" indent="0" algn="l" rtl="0">
              <a:spcBef>
                <a:spcPts val="0"/>
              </a:spcBef>
              <a:spcAft>
                <a:spcPts val="0"/>
              </a:spcAft>
              <a:buNone/>
            </a:pPr>
            <a:endParaRPr/>
          </a:p>
          <a:p>
            <a:pPr marL="0" lvl="0" indent="0" algn="l" rtl="0">
              <a:spcBef>
                <a:spcPts val="0"/>
              </a:spcBef>
              <a:spcAft>
                <a:spcPts val="0"/>
              </a:spcAft>
              <a:buNone/>
            </a:pPr>
            <a:r>
              <a:rPr lang="en-US"/>
              <a:t>Other smaller heatspots are these ones like the file export feedback alert, where it is shown to the user to show the export was successful.</a:t>
            </a:r>
            <a:endParaRPr/>
          </a:p>
          <a:p>
            <a:pPr marL="0" lvl="0" indent="0" algn="l" rtl="0">
              <a:spcBef>
                <a:spcPts val="0"/>
              </a:spcBef>
              <a:spcAft>
                <a:spcPts val="0"/>
              </a:spcAft>
              <a:buNone/>
            </a:pPr>
            <a:endParaRPr/>
          </a:p>
          <a:p>
            <a:pPr marL="0" lvl="0" indent="0" algn="l" rtl="0">
              <a:spcBef>
                <a:spcPts val="0"/>
              </a:spcBef>
              <a:spcAft>
                <a:spcPts val="0"/>
              </a:spcAft>
              <a:buNone/>
            </a:pPr>
            <a:r>
              <a:rPr lang="en-US"/>
              <a:t>To conclude, a lot of these processes also take a while when parsing, converting, and interpreting given styling to the application, which are a part of the JavaFX framework.</a:t>
            </a:r>
            <a:endParaRPr/>
          </a:p>
          <a:p>
            <a:pPr marL="0" lvl="0" indent="0" algn="l" rtl="0">
              <a:spcBef>
                <a:spcPts val="0"/>
              </a:spcBef>
              <a:spcAft>
                <a:spcPts val="0"/>
              </a:spcAft>
              <a:buNone/>
            </a:pPr>
            <a:endParaRPr/>
          </a:p>
          <a:p>
            <a:pPr marL="0" lvl="0" indent="0" algn="l" rtl="0">
              <a:spcBef>
                <a:spcPts val="0"/>
              </a:spcBef>
              <a:spcAft>
                <a:spcPts val="0"/>
              </a:spcAft>
              <a:buNone/>
            </a:pPr>
            <a:r>
              <a:rPr lang="en-US"/>
              <a:t>This can also be said in terms of memory, as the most memory was used by it as denoted by the memory usage of the stage.show() method. This shows 2 usage cases of when we showed two different screens, meaning that per screen loading, it uses at least 8MB to show it, without including in the FXML file parsing.</a:t>
            </a:r>
            <a:endParaRPr/>
          </a:p>
        </p:txBody>
      </p:sp>
      <p:sp>
        <p:nvSpPr>
          <p:cNvPr id="305" name="Google Shape;3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29592dab423_0_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Non-heap memory -&gt; It is created at the JVM startup and stores per-class structures such as runtime constant pool, field and method data, and the code for methods and constructors, as well as interned Strings</a:t>
            </a:r>
            <a:endParaRPr/>
          </a:p>
        </p:txBody>
      </p:sp>
      <p:sp>
        <p:nvSpPr>
          <p:cNvPr id="324" name="Google Shape;324;g29592dab42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Interesting thing to note is that the Logger interestingly enough took 300ms to initialize.</a:t>
            </a:r>
            <a:endParaRPr/>
          </a:p>
          <a:p>
            <a:pPr marL="0" lvl="0" indent="0" algn="l" rtl="0">
              <a:spcBef>
                <a:spcPts val="0"/>
              </a:spcBef>
              <a:spcAft>
                <a:spcPts val="0"/>
              </a:spcAft>
              <a:buNone/>
            </a:pPr>
            <a:endParaRPr/>
          </a:p>
          <a:p>
            <a:pPr marL="0" lvl="0" indent="0" algn="l" rtl="0">
              <a:spcBef>
                <a:spcPts val="0"/>
              </a:spcBef>
              <a:spcAft>
                <a:spcPts val="0"/>
              </a:spcAft>
              <a:buNone/>
            </a:pPr>
            <a:r>
              <a:rPr lang="en-US"/>
              <a:t>All of these methods are out of our control</a:t>
            </a:r>
            <a:endParaRPr/>
          </a:p>
        </p:txBody>
      </p:sp>
      <p:sp>
        <p:nvSpPr>
          <p:cNvPr id="333" name="Google Shape;33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9592dab423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29592dab423_0_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g29592dab423_0_8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g29497ea7dba_0_4"/>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5;g29497ea7dba_0_4"/>
          <p:cNvGrpSpPr/>
          <p:nvPr/>
        </p:nvGrpSpPr>
        <p:grpSpPr>
          <a:xfrm>
            <a:off x="0" y="490"/>
            <a:ext cx="5153705" cy="5134399"/>
            <a:chOff x="0" y="75"/>
            <a:chExt cx="5153705" cy="5152950"/>
          </a:xfrm>
        </p:grpSpPr>
        <p:sp>
          <p:nvSpPr>
            <p:cNvPr id="16" name="Google Shape;16;g29497ea7dba_0_4"/>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g29497ea7dba_0_4"/>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g29497ea7dba_0_4"/>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g29497ea7dba_0_4"/>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Google Shape;20;g29497ea7dba_0_4"/>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21" name="Google Shape;21;g29497ea7dba_0_4"/>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22" name="Google Shape;22;g29497ea7dba_0_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grpSp>
        <p:nvGrpSpPr>
          <p:cNvPr id="24" name="Google Shape;24;g29497ea7dba_0_14"/>
          <p:cNvGrpSpPr/>
          <p:nvPr/>
        </p:nvGrpSpPr>
        <p:grpSpPr>
          <a:xfrm>
            <a:off x="4406400" y="0"/>
            <a:ext cx="4737600" cy="5143065"/>
            <a:chOff x="4406400" y="0"/>
            <a:chExt cx="4737600" cy="5143065"/>
          </a:xfrm>
        </p:grpSpPr>
        <p:sp>
          <p:nvSpPr>
            <p:cNvPr id="25" name="Google Shape;25;g29497ea7dba_0_14"/>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g29497ea7dba_0_14"/>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g29497ea7dba_0_14"/>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g29497ea7dba_0_14"/>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g29497ea7dba_0_14"/>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g29497ea7dba_0_14"/>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g29497ea7dba_0_14"/>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g29497ea7dba_0_14"/>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g29497ea7dba_0_14"/>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g29497ea7dba_0_14"/>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g29497ea7dba_0_14"/>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g29497ea7dba_0_14"/>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g29497ea7dba_0_14"/>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g29497ea7dba_0_14"/>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g29497ea7dba_0_14"/>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g29497ea7dba_0_14"/>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g29497ea7dba_0_14"/>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g29497ea7dba_0_14"/>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 name="Google Shape;43;g29497ea7dba_0_14"/>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4" name="Google Shape;44;g29497ea7dba_0_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5"/>
        <p:cNvGrpSpPr/>
        <p:nvPr/>
      </p:nvGrpSpPr>
      <p:grpSpPr>
        <a:xfrm>
          <a:off x="0" y="0"/>
          <a:ext cx="0" cy="0"/>
          <a:chOff x="0" y="0"/>
          <a:chExt cx="0" cy="0"/>
        </a:xfrm>
      </p:grpSpPr>
      <p:grpSp>
        <p:nvGrpSpPr>
          <p:cNvPr id="46" name="Google Shape;46;g29497ea7dba_0_36"/>
          <p:cNvGrpSpPr/>
          <p:nvPr/>
        </p:nvGrpSpPr>
        <p:grpSpPr>
          <a:xfrm>
            <a:off x="0" y="381001"/>
            <a:ext cx="1037850" cy="1016287"/>
            <a:chOff x="0" y="381001"/>
            <a:chExt cx="1037850" cy="1016287"/>
          </a:xfrm>
        </p:grpSpPr>
        <p:sp>
          <p:nvSpPr>
            <p:cNvPr id="47" name="Google Shape;47;g29497ea7dba_0_3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g29497ea7dba_0_3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g29497ea7dba_0_3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0" name="Google Shape;50;g29497ea7dba_0_3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1" name="Google Shape;51;g29497ea7dba_0_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2"/>
        <p:cNvGrpSpPr/>
        <p:nvPr/>
      </p:nvGrpSpPr>
      <p:grpSpPr>
        <a:xfrm>
          <a:off x="0" y="0"/>
          <a:ext cx="0" cy="0"/>
          <a:chOff x="0" y="0"/>
          <a:chExt cx="0" cy="0"/>
        </a:xfrm>
      </p:grpSpPr>
      <p:grpSp>
        <p:nvGrpSpPr>
          <p:cNvPr id="53" name="Google Shape;53;g29497ea7dba_0_43"/>
          <p:cNvGrpSpPr/>
          <p:nvPr/>
        </p:nvGrpSpPr>
        <p:grpSpPr>
          <a:xfrm>
            <a:off x="0" y="381001"/>
            <a:ext cx="1037850" cy="1016287"/>
            <a:chOff x="0" y="381001"/>
            <a:chExt cx="1037850" cy="1016287"/>
          </a:xfrm>
        </p:grpSpPr>
        <p:sp>
          <p:nvSpPr>
            <p:cNvPr id="54" name="Google Shape;54;g29497ea7dba_0_43"/>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g29497ea7dba_0_43"/>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 name="Google Shape;56;g29497ea7dba_0_4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7" name="Google Shape;57;g29497ea7dba_0_43"/>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8" name="Google Shape;58;g29497ea7dba_0_43"/>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9" name="Google Shape;59;g29497ea7dba_0_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grpSp>
        <p:nvGrpSpPr>
          <p:cNvPr id="61" name="Google Shape;61;g29497ea7dba_0_51"/>
          <p:cNvGrpSpPr/>
          <p:nvPr/>
        </p:nvGrpSpPr>
        <p:grpSpPr>
          <a:xfrm>
            <a:off x="0" y="381001"/>
            <a:ext cx="1037850" cy="1016287"/>
            <a:chOff x="0" y="381001"/>
            <a:chExt cx="1037850" cy="1016287"/>
          </a:xfrm>
        </p:grpSpPr>
        <p:sp>
          <p:nvSpPr>
            <p:cNvPr id="62" name="Google Shape;62;g29497ea7dba_0_51"/>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g29497ea7dba_0_51"/>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 name="Google Shape;64;g29497ea7dba_0_5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5" name="Google Shape;65;g29497ea7dba_0_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6"/>
        <p:cNvGrpSpPr/>
        <p:nvPr/>
      </p:nvGrpSpPr>
      <p:grpSpPr>
        <a:xfrm>
          <a:off x="0" y="0"/>
          <a:ext cx="0" cy="0"/>
          <a:chOff x="0" y="0"/>
          <a:chExt cx="0" cy="0"/>
        </a:xfrm>
      </p:grpSpPr>
      <p:grpSp>
        <p:nvGrpSpPr>
          <p:cNvPr id="67" name="Google Shape;67;g29497ea7dba_0_57"/>
          <p:cNvGrpSpPr/>
          <p:nvPr/>
        </p:nvGrpSpPr>
        <p:grpSpPr>
          <a:xfrm>
            <a:off x="0" y="381001"/>
            <a:ext cx="1037850" cy="1016287"/>
            <a:chOff x="0" y="381001"/>
            <a:chExt cx="1037850" cy="1016287"/>
          </a:xfrm>
        </p:grpSpPr>
        <p:sp>
          <p:nvSpPr>
            <p:cNvPr id="68" name="Google Shape;68;g29497ea7dba_0_5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g29497ea7dba_0_5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 name="Google Shape;70;g29497ea7dba_0_5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1" name="Google Shape;71;g29497ea7dba_0_5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2" name="Google Shape;72;g29497ea7dba_0_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3"/>
        <p:cNvGrpSpPr/>
        <p:nvPr/>
      </p:nvGrpSpPr>
      <p:grpSpPr>
        <a:xfrm>
          <a:off x="0" y="0"/>
          <a:ext cx="0" cy="0"/>
          <a:chOff x="0" y="0"/>
          <a:chExt cx="0" cy="0"/>
        </a:xfrm>
      </p:grpSpPr>
      <p:grpSp>
        <p:nvGrpSpPr>
          <p:cNvPr id="74" name="Google Shape;74;g29497ea7dba_0_64"/>
          <p:cNvGrpSpPr/>
          <p:nvPr/>
        </p:nvGrpSpPr>
        <p:grpSpPr>
          <a:xfrm>
            <a:off x="4406400" y="0"/>
            <a:ext cx="4737600" cy="5143500"/>
            <a:chOff x="4406400" y="0"/>
            <a:chExt cx="4737600" cy="5143500"/>
          </a:xfrm>
        </p:grpSpPr>
        <p:sp>
          <p:nvSpPr>
            <p:cNvPr id="75" name="Google Shape;75;g29497ea7dba_0_64"/>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g29497ea7dba_0_64"/>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g29497ea7dba_0_64"/>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g29497ea7dba_0_64"/>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g29497ea7dba_0_64"/>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g29497ea7dba_0_64"/>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g29497ea7dba_0_64"/>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g29497ea7dba_0_64"/>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g29497ea7dba_0_64"/>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g29497ea7dba_0_64"/>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g29497ea7dba_0_64"/>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g29497ea7dba_0_64"/>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g29497ea7dba_0_64"/>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g29497ea7dba_0_64"/>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g29497ea7dba_0_64"/>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g29497ea7dba_0_64"/>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g29497ea7dba_0_64"/>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g29497ea7dba_0_64"/>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g29497ea7dba_0_64"/>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4" name="Google Shape;94;g29497ea7dba_0_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5"/>
        <p:cNvGrpSpPr/>
        <p:nvPr/>
      </p:nvGrpSpPr>
      <p:grpSpPr>
        <a:xfrm>
          <a:off x="0" y="0"/>
          <a:ext cx="0" cy="0"/>
          <a:chOff x="0" y="0"/>
          <a:chExt cx="0" cy="0"/>
        </a:xfrm>
      </p:grpSpPr>
      <p:grpSp>
        <p:nvGrpSpPr>
          <p:cNvPr id="96" name="Google Shape;96;g29497ea7dba_0_86"/>
          <p:cNvGrpSpPr/>
          <p:nvPr/>
        </p:nvGrpSpPr>
        <p:grpSpPr>
          <a:xfrm>
            <a:off x="0" y="381001"/>
            <a:ext cx="1037850" cy="1016287"/>
            <a:chOff x="0" y="381001"/>
            <a:chExt cx="1037850" cy="1016287"/>
          </a:xfrm>
        </p:grpSpPr>
        <p:sp>
          <p:nvSpPr>
            <p:cNvPr id="97" name="Google Shape;97;g29497ea7dba_0_8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g29497ea7dba_0_8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g29497ea7dba_0_86"/>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00" name="Google Shape;100;g29497ea7dba_0_86"/>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01" name="Google Shape;101;g29497ea7dba_0_86"/>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g29497ea7dba_0_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3"/>
        <p:cNvGrpSpPr/>
        <p:nvPr/>
      </p:nvGrpSpPr>
      <p:grpSpPr>
        <a:xfrm>
          <a:off x="0" y="0"/>
          <a:ext cx="0" cy="0"/>
          <a:chOff x="0" y="0"/>
          <a:chExt cx="0" cy="0"/>
        </a:xfrm>
      </p:grpSpPr>
      <p:grpSp>
        <p:nvGrpSpPr>
          <p:cNvPr id="104" name="Google Shape;104;g29497ea7dba_0_94"/>
          <p:cNvGrpSpPr/>
          <p:nvPr/>
        </p:nvGrpSpPr>
        <p:grpSpPr>
          <a:xfrm>
            <a:off x="0" y="4128572"/>
            <a:ext cx="698925" cy="684657"/>
            <a:chOff x="0" y="3785672"/>
            <a:chExt cx="698925" cy="684657"/>
          </a:xfrm>
        </p:grpSpPr>
        <p:sp>
          <p:nvSpPr>
            <p:cNvPr id="105" name="Google Shape;105;g29497ea7dba_0_94"/>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g29497ea7dba_0_94"/>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g29497ea7dba_0_94"/>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g29497ea7dba_0_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9"/>
        <p:cNvGrpSpPr/>
        <p:nvPr/>
      </p:nvGrpSpPr>
      <p:grpSpPr>
        <a:xfrm>
          <a:off x="0" y="0"/>
          <a:ext cx="0" cy="0"/>
          <a:chOff x="0" y="0"/>
          <a:chExt cx="0" cy="0"/>
        </a:xfrm>
      </p:grpSpPr>
      <p:grpSp>
        <p:nvGrpSpPr>
          <p:cNvPr id="110" name="Google Shape;110;g29497ea7dba_0_100"/>
          <p:cNvGrpSpPr/>
          <p:nvPr/>
        </p:nvGrpSpPr>
        <p:grpSpPr>
          <a:xfrm>
            <a:off x="4406400" y="0"/>
            <a:ext cx="4737600" cy="5143065"/>
            <a:chOff x="4406400" y="0"/>
            <a:chExt cx="4737600" cy="5143065"/>
          </a:xfrm>
        </p:grpSpPr>
        <p:sp>
          <p:nvSpPr>
            <p:cNvPr id="111" name="Google Shape;111;g29497ea7dba_0_100"/>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g29497ea7dba_0_100"/>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g29497ea7dba_0_100"/>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g29497ea7dba_0_100"/>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g29497ea7dba_0_100"/>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g29497ea7dba_0_100"/>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g29497ea7dba_0_100"/>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g29497ea7dba_0_100"/>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g29497ea7dba_0_100"/>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g29497ea7dba_0_100"/>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g29497ea7dba_0_100"/>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g29497ea7dba_0_100"/>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g29497ea7dba_0_100"/>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g29497ea7dba_0_100"/>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g29497ea7dba_0_100"/>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g29497ea7dba_0_100"/>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g29497ea7dba_0_100"/>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g29497ea7dba_0_100"/>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g29497ea7dba_0_100"/>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30" name="Google Shape;130;g29497ea7dba_0_100"/>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1" name="Google Shape;131;g29497ea7dba_0_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2"/>
        <p:cNvGrpSpPr/>
        <p:nvPr/>
      </p:nvGrpSpPr>
      <p:grpSpPr>
        <a:xfrm>
          <a:off x="0" y="0"/>
          <a:ext cx="0" cy="0"/>
          <a:chOff x="0" y="0"/>
          <a:chExt cx="0" cy="0"/>
        </a:xfrm>
      </p:grpSpPr>
      <p:sp>
        <p:nvSpPr>
          <p:cNvPr id="133" name="Google Shape;133;g29497ea7dba_0_1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4"/>
        <p:cNvGrpSpPr/>
        <p:nvPr/>
      </p:nvGrpSpPr>
      <p:grpSpPr>
        <a:xfrm>
          <a:off x="0" y="0"/>
          <a:ext cx="0" cy="0"/>
          <a:chOff x="0" y="0"/>
          <a:chExt cx="0" cy="0"/>
        </a:xfrm>
      </p:grpSpPr>
      <p:sp>
        <p:nvSpPr>
          <p:cNvPr id="135" name="Google Shape;135;g29497ea7dba_0_125"/>
          <p:cNvSpPr txBox="1">
            <a:spLocks noGrp="1"/>
          </p:cNvSpPr>
          <p:nvPr>
            <p:ph type="title"/>
          </p:nvPr>
        </p:nvSpPr>
        <p:spPr>
          <a:xfrm>
            <a:off x="457200" y="274046"/>
            <a:ext cx="4876800" cy="599400"/>
          </a:xfrm>
          <a:prstGeom prst="rect">
            <a:avLst/>
          </a:prstGeom>
          <a:noFill/>
          <a:ln>
            <a:noFill/>
          </a:ln>
        </p:spPr>
        <p:txBody>
          <a:bodyPr spcFirstLastPara="1" wrap="square" lIns="0" tIns="45700" rIns="0" bIns="45700" anchor="ctr" anchorCtr="0">
            <a:noAutofit/>
          </a:bodyPr>
          <a:lstStyle>
            <a:lvl1pPr lvl="0" algn="l" rtl="0">
              <a:spcBef>
                <a:spcPts val="0"/>
              </a:spcBef>
              <a:spcAft>
                <a:spcPts val="0"/>
              </a:spcAft>
              <a:buClr>
                <a:schemeClr val="accent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6" name="Google Shape;136;g29497ea7dba_0_125"/>
          <p:cNvSpPr txBox="1">
            <a:spLocks noGrp="1"/>
          </p:cNvSpPr>
          <p:nvPr>
            <p:ph type="body" idx="1"/>
          </p:nvPr>
        </p:nvSpPr>
        <p:spPr>
          <a:xfrm>
            <a:off x="457200" y="1200150"/>
            <a:ext cx="8229600" cy="3429000"/>
          </a:xfrm>
          <a:prstGeom prst="rect">
            <a:avLst/>
          </a:prstGeom>
          <a:noFill/>
          <a:ln>
            <a:noFill/>
          </a:ln>
        </p:spPr>
        <p:txBody>
          <a:bodyPr spcFirstLastPara="1" wrap="square" lIns="91425" tIns="45700" rIns="91425" bIns="45700" anchor="t" anchorCtr="0">
            <a:normAutofit/>
          </a:bodyPr>
          <a:lstStyle>
            <a:lvl1pPr marL="457200" lvl="0" indent="-320040" algn="l" rtl="0">
              <a:spcBef>
                <a:spcPts val="360"/>
              </a:spcBef>
              <a:spcAft>
                <a:spcPts val="0"/>
              </a:spcAft>
              <a:buSzPts val="1440"/>
              <a:buChar char="●"/>
              <a:defRPr/>
            </a:lvl1pPr>
            <a:lvl2pPr marL="914400" lvl="1" indent="-337185" algn="l" rtl="0">
              <a:spcBef>
                <a:spcPts val="1000"/>
              </a:spcBef>
              <a:spcAft>
                <a:spcPts val="0"/>
              </a:spcAft>
              <a:buSzPts val="1710"/>
              <a:buChar char="○"/>
              <a:defRPr/>
            </a:lvl2pPr>
            <a:lvl3pPr marL="1371600" lvl="2" indent="-342900" algn="l" rtl="0">
              <a:spcBef>
                <a:spcPts val="1000"/>
              </a:spcBef>
              <a:spcAft>
                <a:spcPts val="0"/>
              </a:spcAft>
              <a:buSzPts val="1800"/>
              <a:buChar char="■"/>
              <a:defRPr/>
            </a:lvl3pPr>
            <a:lvl4pPr marL="1828800" lvl="3" indent="-342900" algn="l" rtl="0">
              <a:spcBef>
                <a:spcPts val="1000"/>
              </a:spcBef>
              <a:spcAft>
                <a:spcPts val="0"/>
              </a:spcAft>
              <a:buSzPts val="1800"/>
              <a:buChar char="●"/>
              <a:defRPr/>
            </a:lvl4pPr>
            <a:lvl5pPr marL="2286000" lvl="4" indent="-342900" algn="l" rtl="0">
              <a:spcBef>
                <a:spcPts val="1000"/>
              </a:spcBef>
              <a:spcAft>
                <a:spcPts val="0"/>
              </a:spcAft>
              <a:buSzPts val="1800"/>
              <a:buChar char="○"/>
              <a:defRPr/>
            </a:lvl5pPr>
            <a:lvl6pPr marL="2743200" lvl="5" indent="-342900" algn="l" rtl="0">
              <a:spcBef>
                <a:spcPts val="1000"/>
              </a:spcBef>
              <a:spcAft>
                <a:spcPts val="0"/>
              </a:spcAft>
              <a:buSzPts val="1800"/>
              <a:buChar char="■"/>
              <a:defRPr/>
            </a:lvl6pPr>
            <a:lvl7pPr marL="3200400" lvl="6" indent="-342900" algn="l" rtl="0">
              <a:spcBef>
                <a:spcPts val="1200"/>
              </a:spcBef>
              <a:spcAft>
                <a:spcPts val="0"/>
              </a:spcAft>
              <a:buSzPts val="1800"/>
              <a:buChar char="●"/>
              <a:defRPr/>
            </a:lvl7pPr>
            <a:lvl8pPr marL="3657600" lvl="7" indent="-342900" algn="l" rtl="0">
              <a:spcBef>
                <a:spcPts val="1200"/>
              </a:spcBef>
              <a:spcAft>
                <a:spcPts val="0"/>
              </a:spcAft>
              <a:buSzPts val="1800"/>
              <a:buChar char="○"/>
              <a:defRPr/>
            </a:lvl8pPr>
            <a:lvl9pPr marL="4114800" lvl="8" indent="-342900" algn="l" rtl="0">
              <a:spcBef>
                <a:spcPts val="1200"/>
              </a:spcBef>
              <a:spcAft>
                <a:spcPts val="1200"/>
              </a:spcAft>
              <a:buSzPts val="1800"/>
              <a:buChar char="■"/>
              <a:defRPr/>
            </a:lvl9pPr>
          </a:lstStyle>
          <a:p>
            <a:endParaRPr/>
          </a:p>
        </p:txBody>
      </p:sp>
      <p:sp>
        <p:nvSpPr>
          <p:cNvPr id="137" name="Google Shape;137;g29497ea7dba_0_125"/>
          <p:cNvSpPr txBox="1">
            <a:spLocks noGrp="1"/>
          </p:cNvSpPr>
          <p:nvPr>
            <p:ph type="ftr" idx="11"/>
          </p:nvPr>
        </p:nvSpPr>
        <p:spPr>
          <a:xfrm>
            <a:off x="5715000" y="129896"/>
            <a:ext cx="2469000" cy="225600"/>
          </a:xfrm>
          <a:prstGeom prst="rect">
            <a:avLst/>
          </a:prstGeom>
          <a:noFill/>
          <a:ln>
            <a:noFill/>
          </a:ln>
        </p:spPr>
        <p:txBody>
          <a:bodyPr spcFirstLastPara="1" wrap="square" lIns="91425" tIns="45700" rIns="91425" bIns="45700" anchor="b"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8" name="Google Shape;138;g29497ea7dba_0_125"/>
          <p:cNvSpPr txBox="1">
            <a:spLocks noGrp="1"/>
          </p:cNvSpPr>
          <p:nvPr>
            <p:ph type="sldNum" idx="12"/>
          </p:nvPr>
        </p:nvSpPr>
        <p:spPr>
          <a:xfrm>
            <a:off x="8183880" y="129896"/>
            <a:ext cx="502800" cy="226200"/>
          </a:xfrm>
          <a:prstGeom prst="rect">
            <a:avLst/>
          </a:prstGeom>
          <a:noFill/>
          <a:ln>
            <a:noFill/>
          </a:ln>
        </p:spPr>
        <p:txBody>
          <a:bodyPr spcFirstLastPara="1" wrap="square" lIns="91425" tIns="45700" rIns="91425" bIns="45700" anchor="b" anchorCtr="0">
            <a:normAutofit lnSpcReduction="20000"/>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9"/>
        <p:cNvGrpSpPr/>
        <p:nvPr/>
      </p:nvGrpSpPr>
      <p:grpSpPr>
        <a:xfrm>
          <a:off x="0" y="0"/>
          <a:ext cx="0" cy="0"/>
          <a:chOff x="0" y="0"/>
          <a:chExt cx="0" cy="0"/>
        </a:xfrm>
      </p:grpSpPr>
      <p:sp>
        <p:nvSpPr>
          <p:cNvPr id="10" name="Google Shape;10;g29497ea7dba_0_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11" name="Google Shape;11;g29497ea7dba_0_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Montserrat"/>
              <a:buChar char="●"/>
              <a:defRPr sz="1300">
                <a:solidFill>
                  <a:schemeClr val="lt1"/>
                </a:solidFill>
                <a:latin typeface="Montserrat"/>
                <a:ea typeface="Montserrat"/>
                <a:cs typeface="Montserrat"/>
                <a:sym typeface="Montserrat"/>
              </a:defRPr>
            </a:lvl1pPr>
            <a:lvl2pPr marL="914400" lvl="1" indent="-298450">
              <a:lnSpc>
                <a:spcPct val="115000"/>
              </a:lnSpc>
              <a:spcBef>
                <a:spcPts val="0"/>
              </a:spcBef>
              <a:spcAft>
                <a:spcPts val="0"/>
              </a:spcAft>
              <a:buClr>
                <a:schemeClr val="lt1"/>
              </a:buClr>
              <a:buSzPts val="1100"/>
              <a:buFont typeface="Montserrat"/>
              <a:buChar char="○"/>
              <a:defRPr sz="1100">
                <a:solidFill>
                  <a:schemeClr val="lt1"/>
                </a:solidFill>
                <a:latin typeface="Montserrat"/>
                <a:ea typeface="Montserrat"/>
                <a:cs typeface="Montserrat"/>
                <a:sym typeface="Montserrat"/>
              </a:defRPr>
            </a:lvl2pPr>
            <a:lvl3pPr marL="1371600" lvl="2" indent="-298450">
              <a:lnSpc>
                <a:spcPct val="115000"/>
              </a:lnSpc>
              <a:spcBef>
                <a:spcPts val="0"/>
              </a:spcBef>
              <a:spcAft>
                <a:spcPts val="0"/>
              </a:spcAft>
              <a:buClr>
                <a:schemeClr val="lt1"/>
              </a:buClr>
              <a:buSzPts val="1100"/>
              <a:buFont typeface="Montserrat"/>
              <a:buChar char="■"/>
              <a:defRPr sz="1100">
                <a:solidFill>
                  <a:schemeClr val="lt1"/>
                </a:solidFill>
                <a:latin typeface="Montserrat"/>
                <a:ea typeface="Montserrat"/>
                <a:cs typeface="Montserrat"/>
                <a:sym typeface="Montserrat"/>
              </a:defRPr>
            </a:lvl3pPr>
            <a:lvl4pPr marL="1828800" lvl="3" indent="-298450">
              <a:lnSpc>
                <a:spcPct val="115000"/>
              </a:lnSpc>
              <a:spcBef>
                <a:spcPts val="0"/>
              </a:spcBef>
              <a:spcAft>
                <a:spcPts val="0"/>
              </a:spcAft>
              <a:buClr>
                <a:schemeClr val="lt1"/>
              </a:buClr>
              <a:buSzPts val="1100"/>
              <a:buFont typeface="Montserrat"/>
              <a:buChar char="●"/>
              <a:defRPr sz="1100">
                <a:solidFill>
                  <a:schemeClr val="lt1"/>
                </a:solidFill>
                <a:latin typeface="Montserrat"/>
                <a:ea typeface="Montserrat"/>
                <a:cs typeface="Montserrat"/>
                <a:sym typeface="Montserrat"/>
              </a:defRPr>
            </a:lvl4pPr>
            <a:lvl5pPr marL="2286000" lvl="4" indent="-298450">
              <a:lnSpc>
                <a:spcPct val="115000"/>
              </a:lnSpc>
              <a:spcBef>
                <a:spcPts val="0"/>
              </a:spcBef>
              <a:spcAft>
                <a:spcPts val="0"/>
              </a:spcAft>
              <a:buClr>
                <a:schemeClr val="lt1"/>
              </a:buClr>
              <a:buSzPts val="1100"/>
              <a:buFont typeface="Montserrat"/>
              <a:buChar char="○"/>
              <a:defRPr sz="1100">
                <a:solidFill>
                  <a:schemeClr val="lt1"/>
                </a:solidFill>
                <a:latin typeface="Montserrat"/>
                <a:ea typeface="Montserrat"/>
                <a:cs typeface="Montserrat"/>
                <a:sym typeface="Montserrat"/>
              </a:defRPr>
            </a:lvl5pPr>
            <a:lvl6pPr marL="2743200" lvl="5" indent="-298450">
              <a:lnSpc>
                <a:spcPct val="115000"/>
              </a:lnSpc>
              <a:spcBef>
                <a:spcPts val="0"/>
              </a:spcBef>
              <a:spcAft>
                <a:spcPts val="0"/>
              </a:spcAft>
              <a:buClr>
                <a:schemeClr val="lt1"/>
              </a:buClr>
              <a:buSzPts val="1100"/>
              <a:buFont typeface="Montserrat"/>
              <a:buChar char="■"/>
              <a:defRPr sz="1100">
                <a:solidFill>
                  <a:schemeClr val="lt1"/>
                </a:solidFill>
                <a:latin typeface="Montserrat"/>
                <a:ea typeface="Montserrat"/>
                <a:cs typeface="Montserrat"/>
                <a:sym typeface="Montserrat"/>
              </a:defRPr>
            </a:lvl6pPr>
            <a:lvl7pPr marL="3200400" lvl="6" indent="-298450">
              <a:lnSpc>
                <a:spcPct val="115000"/>
              </a:lnSpc>
              <a:spcBef>
                <a:spcPts val="0"/>
              </a:spcBef>
              <a:spcAft>
                <a:spcPts val="0"/>
              </a:spcAft>
              <a:buClr>
                <a:schemeClr val="lt1"/>
              </a:buClr>
              <a:buSzPts val="1100"/>
              <a:buFont typeface="Montserrat"/>
              <a:buChar char="●"/>
              <a:defRPr sz="1100">
                <a:solidFill>
                  <a:schemeClr val="lt1"/>
                </a:solidFill>
                <a:latin typeface="Montserrat"/>
                <a:ea typeface="Montserrat"/>
                <a:cs typeface="Montserrat"/>
                <a:sym typeface="Montserrat"/>
              </a:defRPr>
            </a:lvl7pPr>
            <a:lvl8pPr marL="3657600" lvl="7" indent="-298450">
              <a:lnSpc>
                <a:spcPct val="115000"/>
              </a:lnSpc>
              <a:spcBef>
                <a:spcPts val="0"/>
              </a:spcBef>
              <a:spcAft>
                <a:spcPts val="0"/>
              </a:spcAft>
              <a:buClr>
                <a:schemeClr val="lt1"/>
              </a:buClr>
              <a:buSzPts val="1100"/>
              <a:buFont typeface="Montserrat"/>
              <a:buChar char="○"/>
              <a:defRPr sz="1100">
                <a:solidFill>
                  <a:schemeClr val="lt1"/>
                </a:solidFill>
                <a:latin typeface="Montserrat"/>
                <a:ea typeface="Montserrat"/>
                <a:cs typeface="Montserrat"/>
                <a:sym typeface="Montserrat"/>
              </a:defRPr>
            </a:lvl8pPr>
            <a:lvl9pPr marL="4114800" lvl="8" indent="-298450">
              <a:lnSpc>
                <a:spcPct val="115000"/>
              </a:lnSpc>
              <a:spcBef>
                <a:spcPts val="0"/>
              </a:spcBef>
              <a:spcAft>
                <a:spcPts val="0"/>
              </a:spcAft>
              <a:buClr>
                <a:schemeClr val="lt1"/>
              </a:buClr>
              <a:buSzPts val="1100"/>
              <a:buFont typeface="Montserrat"/>
              <a:buChar char="■"/>
              <a:defRPr sz="1100">
                <a:solidFill>
                  <a:schemeClr val="lt1"/>
                </a:solidFill>
                <a:latin typeface="Montserrat"/>
                <a:ea typeface="Montserrat"/>
                <a:cs typeface="Montserrat"/>
                <a:sym typeface="Montserrat"/>
              </a:defRPr>
            </a:lvl9pPr>
          </a:lstStyle>
          <a:p>
            <a:endParaRPr/>
          </a:p>
        </p:txBody>
      </p:sp>
      <p:sp>
        <p:nvSpPr>
          <p:cNvPr id="12" name="Google Shape;12;g29497ea7dba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png"/><Relationship Id="rId7"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1"/>
          <p:cNvPicPr preferRelativeResize="0"/>
          <p:nvPr/>
        </p:nvPicPr>
        <p:blipFill rotWithShape="1">
          <a:blip r:embed="rId3">
            <a:alphaModFix amt="20000"/>
          </a:blip>
          <a:srcRect r="48371"/>
          <a:stretch/>
        </p:blipFill>
        <p:spPr>
          <a:xfrm>
            <a:off x="7745200" y="2298100"/>
            <a:ext cx="1398799" cy="2709325"/>
          </a:xfrm>
          <a:prstGeom prst="rect">
            <a:avLst/>
          </a:prstGeom>
          <a:noFill/>
          <a:ln>
            <a:noFill/>
          </a:ln>
        </p:spPr>
      </p:pic>
      <p:sp>
        <p:nvSpPr>
          <p:cNvPr id="145" name="Google Shape;145;p1"/>
          <p:cNvSpPr txBox="1">
            <a:spLocks noGrp="1"/>
          </p:cNvSpPr>
          <p:nvPr>
            <p:ph type="ctrTitle"/>
          </p:nvPr>
        </p:nvSpPr>
        <p:spPr>
          <a:xfrm>
            <a:off x="2267750" y="621275"/>
            <a:ext cx="6335700" cy="1419600"/>
          </a:xfrm>
          <a:prstGeom prst="rect">
            <a:avLst/>
          </a:prstGeom>
          <a:noFill/>
          <a:ln>
            <a:noFill/>
          </a:ln>
        </p:spPr>
        <p:txBody>
          <a:bodyPr spcFirstLastPara="1" wrap="square" lIns="0" tIns="45700" rIns="0" bIns="45700" anchor="b" anchorCtr="0">
            <a:noAutofit/>
          </a:bodyPr>
          <a:lstStyle/>
          <a:p>
            <a:pPr marL="182880" lvl="0" indent="0" algn="r" rtl="0">
              <a:spcBef>
                <a:spcPts val="0"/>
              </a:spcBef>
              <a:spcAft>
                <a:spcPts val="0"/>
              </a:spcAft>
              <a:buClr>
                <a:schemeClr val="dk2"/>
              </a:buClr>
              <a:buSzPts val="4500"/>
              <a:buFont typeface="Quattrocento Sans"/>
              <a:buNone/>
            </a:pPr>
            <a:r>
              <a:rPr lang="en-US">
                <a:solidFill>
                  <a:schemeClr val="accent1"/>
                </a:solidFill>
              </a:rPr>
              <a:t>Queryfier</a:t>
            </a:r>
            <a:endParaRPr>
              <a:solidFill>
                <a:schemeClr val="accent1"/>
              </a:solidFill>
            </a:endParaRPr>
          </a:p>
          <a:p>
            <a:pPr marL="182880" lvl="0" indent="0" algn="r" rtl="0">
              <a:spcBef>
                <a:spcPts val="0"/>
              </a:spcBef>
              <a:spcAft>
                <a:spcPts val="0"/>
              </a:spcAft>
              <a:buClr>
                <a:schemeClr val="dk2"/>
              </a:buClr>
              <a:buSzPts val="4500"/>
              <a:buFont typeface="Quattrocento Sans"/>
              <a:buNone/>
            </a:pPr>
            <a:r>
              <a:rPr lang="en-US" b="0"/>
              <a:t>Code Analysis Report</a:t>
            </a:r>
            <a:endParaRPr b="0"/>
          </a:p>
        </p:txBody>
      </p:sp>
      <p:sp>
        <p:nvSpPr>
          <p:cNvPr id="146" name="Google Shape;146;p1"/>
          <p:cNvSpPr txBox="1">
            <a:spLocks noGrp="1"/>
          </p:cNvSpPr>
          <p:nvPr>
            <p:ph type="subTitle" idx="1"/>
          </p:nvPr>
        </p:nvSpPr>
        <p:spPr>
          <a:xfrm>
            <a:off x="1979712" y="2887249"/>
            <a:ext cx="6623700" cy="925800"/>
          </a:xfrm>
          <a:prstGeom prst="rect">
            <a:avLst/>
          </a:prstGeom>
          <a:noFill/>
          <a:ln>
            <a:noFill/>
          </a:ln>
        </p:spPr>
        <p:txBody>
          <a:bodyPr spcFirstLastPara="1" wrap="square" lIns="91425" tIns="45700" rIns="91425" bIns="45700" anchor="t" anchorCtr="0">
            <a:normAutofit/>
          </a:bodyPr>
          <a:lstStyle/>
          <a:p>
            <a:pPr marL="0" lvl="0" indent="0" algn="r" rtl="0">
              <a:spcBef>
                <a:spcPts val="1000"/>
              </a:spcBef>
              <a:spcAft>
                <a:spcPts val="0"/>
              </a:spcAft>
              <a:buSzPts val="2240"/>
              <a:buNone/>
            </a:pPr>
            <a:r>
              <a:rPr lang="en-US" sz="1600">
                <a:latin typeface="Montserrat"/>
                <a:ea typeface="Montserrat"/>
                <a:cs typeface="Montserrat"/>
                <a:sym typeface="Montserrat"/>
              </a:rPr>
              <a:t>Group 6: </a:t>
            </a:r>
            <a:r>
              <a:rPr lang="en-US" sz="1600">
                <a:solidFill>
                  <a:schemeClr val="accent1"/>
                </a:solidFill>
                <a:latin typeface="Montserrat"/>
                <a:ea typeface="Montserrat"/>
                <a:cs typeface="Montserrat"/>
                <a:sym typeface="Montserrat"/>
              </a:rPr>
              <a:t>The Sixth Sense</a:t>
            </a:r>
            <a:endParaRPr sz="1600">
              <a:solidFill>
                <a:schemeClr val="accent1"/>
              </a:solidFill>
              <a:latin typeface="Montserrat"/>
              <a:ea typeface="Montserrat"/>
              <a:cs typeface="Montserrat"/>
              <a:sym typeface="Montserrat"/>
            </a:endParaRPr>
          </a:p>
          <a:p>
            <a:pPr marL="0" lvl="0" indent="0" algn="r" rtl="0">
              <a:spcBef>
                <a:spcPts val="1000"/>
              </a:spcBef>
              <a:spcAft>
                <a:spcPts val="0"/>
              </a:spcAft>
              <a:buSzPts val="2240"/>
              <a:buNone/>
            </a:pPr>
            <a:r>
              <a:rPr lang="en-US">
                <a:solidFill>
                  <a:srgbClr val="CCCCCC"/>
                </a:solidFill>
                <a:latin typeface="Montserrat"/>
                <a:ea typeface="Montserrat"/>
                <a:cs typeface="Montserrat"/>
                <a:sym typeface="Montserrat"/>
              </a:rPr>
              <a:t>Swen Grgičević, Doroteja Krtalić, Michel Brassard, Petra Cesar, Divna Mijić</a:t>
            </a:r>
            <a:endParaRPr>
              <a:solidFill>
                <a:srgbClr val="CCCCCC"/>
              </a:solidFill>
              <a:latin typeface="Montserrat"/>
              <a:ea typeface="Montserrat"/>
              <a:cs typeface="Montserrat"/>
              <a:sym typeface="Montserrat"/>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2"/>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153" name="Google Shape;153;p2"/>
          <p:cNvPicPr preferRelativeResize="0"/>
          <p:nvPr/>
        </p:nvPicPr>
        <p:blipFill rotWithShape="1">
          <a:blip r:embed="rId4">
            <a:alphaModFix/>
          </a:blip>
          <a:srcRect t="1140" r="49794" b="-1139"/>
          <a:stretch/>
        </p:blipFill>
        <p:spPr>
          <a:xfrm>
            <a:off x="4124700" y="0"/>
            <a:ext cx="5019299" cy="5143499"/>
          </a:xfrm>
          <a:prstGeom prst="rect">
            <a:avLst/>
          </a:prstGeom>
          <a:noFill/>
          <a:ln>
            <a:noFill/>
          </a:ln>
        </p:spPr>
      </p:pic>
      <p:sp>
        <p:nvSpPr>
          <p:cNvPr id="154" name="Google Shape;154;p2"/>
          <p:cNvSpPr txBox="1">
            <a:spLocks noGrp="1"/>
          </p:cNvSpPr>
          <p:nvPr>
            <p:ph type="title"/>
          </p:nvPr>
        </p:nvSpPr>
        <p:spPr>
          <a:xfrm>
            <a:off x="457200" y="274050"/>
            <a:ext cx="8229600" cy="599400"/>
          </a:xfrm>
          <a:prstGeom prst="rect">
            <a:avLst/>
          </a:prstGeom>
          <a:noFill/>
          <a:ln>
            <a:noFill/>
          </a:ln>
        </p:spPr>
        <p:txBody>
          <a:bodyPr spcFirstLastPara="1" wrap="square" lIns="0" tIns="45700" rIns="0" bIns="45700" anchor="t" anchorCtr="0">
            <a:noAutofit/>
          </a:bodyPr>
          <a:lstStyle/>
          <a:p>
            <a:pPr marL="0" lvl="0" indent="0" algn="ctr" rtl="0">
              <a:spcBef>
                <a:spcPts val="0"/>
              </a:spcBef>
              <a:spcAft>
                <a:spcPts val="0"/>
              </a:spcAft>
              <a:buClr>
                <a:schemeClr val="accent1"/>
              </a:buClr>
              <a:buSzPts val="4000"/>
              <a:buFont typeface="Quattrocento Sans"/>
              <a:buNone/>
            </a:pPr>
            <a:r>
              <a:rPr lang="en-US"/>
              <a:t>Outline</a:t>
            </a:r>
            <a:endParaRPr/>
          </a:p>
        </p:txBody>
      </p:sp>
      <p:sp>
        <p:nvSpPr>
          <p:cNvPr id="155" name="Google Shape;155;p2"/>
          <p:cNvSpPr txBox="1">
            <a:spLocks noGrp="1"/>
          </p:cNvSpPr>
          <p:nvPr>
            <p:ph type="body" idx="1"/>
          </p:nvPr>
        </p:nvSpPr>
        <p:spPr>
          <a:xfrm>
            <a:off x="457200" y="1200150"/>
            <a:ext cx="8229600" cy="3429000"/>
          </a:xfrm>
          <a:prstGeom prst="rect">
            <a:avLst/>
          </a:prstGeom>
          <a:noFill/>
          <a:ln>
            <a:noFill/>
          </a:ln>
        </p:spPr>
        <p:txBody>
          <a:bodyPr spcFirstLastPara="1" wrap="square" lIns="91425" tIns="45700" rIns="91425" bIns="45700" anchor="t" anchorCtr="0">
            <a:normAutofit/>
          </a:bodyPr>
          <a:lstStyle/>
          <a:p>
            <a:pPr marL="457200" lvl="0" indent="0" algn="l" rtl="0">
              <a:lnSpc>
                <a:spcPct val="150000"/>
              </a:lnSpc>
              <a:spcBef>
                <a:spcPts val="0"/>
              </a:spcBef>
              <a:spcAft>
                <a:spcPts val="0"/>
              </a:spcAft>
              <a:buNone/>
            </a:pPr>
            <a:r>
              <a:rPr lang="en-US" sz="1800" b="1"/>
              <a:t>Tools &amp; Technologies</a:t>
            </a:r>
            <a:endParaRPr sz="1800" b="1"/>
          </a:p>
          <a:p>
            <a:pPr marL="457200" lvl="0" indent="0" algn="l" rtl="0">
              <a:lnSpc>
                <a:spcPct val="150000"/>
              </a:lnSpc>
              <a:spcBef>
                <a:spcPts val="0"/>
              </a:spcBef>
              <a:spcAft>
                <a:spcPts val="0"/>
              </a:spcAft>
              <a:buNone/>
            </a:pPr>
            <a:r>
              <a:rPr lang="en-US" sz="1800" b="1"/>
              <a:t>Static Code Analysis</a:t>
            </a:r>
            <a:endParaRPr sz="1800" b="1"/>
          </a:p>
          <a:p>
            <a:pPr marL="914400" lvl="1" indent="-368935" algn="l" rtl="0">
              <a:lnSpc>
                <a:spcPct val="150000"/>
              </a:lnSpc>
              <a:spcBef>
                <a:spcPts val="1480"/>
              </a:spcBef>
              <a:spcAft>
                <a:spcPts val="0"/>
              </a:spcAft>
              <a:buSzPts val="2210"/>
              <a:buChar char="○"/>
            </a:pPr>
            <a:r>
              <a:rPr lang="en-US" sz="1600"/>
              <a:t>Overview</a:t>
            </a:r>
            <a:endParaRPr sz="1600"/>
          </a:p>
          <a:p>
            <a:pPr marL="914400" lvl="1" indent="-368935" algn="l" rtl="0">
              <a:lnSpc>
                <a:spcPct val="150000"/>
              </a:lnSpc>
              <a:spcBef>
                <a:spcPts val="0"/>
              </a:spcBef>
              <a:spcAft>
                <a:spcPts val="0"/>
              </a:spcAft>
              <a:buSzPts val="2210"/>
              <a:buChar char="○"/>
            </a:pPr>
            <a:r>
              <a:rPr lang="en-US" sz="1600"/>
              <a:t>What issue we encountered</a:t>
            </a:r>
            <a:endParaRPr sz="1600"/>
          </a:p>
          <a:p>
            <a:pPr marL="457200" lvl="0" indent="0" algn="l" rtl="0">
              <a:lnSpc>
                <a:spcPct val="150000"/>
              </a:lnSpc>
              <a:spcBef>
                <a:spcPts val="1560"/>
              </a:spcBef>
              <a:spcAft>
                <a:spcPts val="0"/>
              </a:spcAft>
              <a:buNone/>
            </a:pPr>
            <a:r>
              <a:rPr lang="en-US" sz="1800" b="1"/>
              <a:t>Dynamic Code Analysis</a:t>
            </a:r>
            <a:endParaRPr sz="1800" b="1"/>
          </a:p>
          <a:p>
            <a:pPr marL="914400" lvl="1" indent="-368935" algn="l" rtl="0">
              <a:lnSpc>
                <a:spcPct val="150000"/>
              </a:lnSpc>
              <a:spcBef>
                <a:spcPts val="1480"/>
              </a:spcBef>
              <a:spcAft>
                <a:spcPts val="0"/>
              </a:spcAft>
              <a:buSzPts val="2210"/>
              <a:buChar char="○"/>
            </a:pPr>
            <a:r>
              <a:rPr lang="en-US" sz="1600"/>
              <a:t>System Performance</a:t>
            </a:r>
            <a:endParaRPr sz="1600"/>
          </a:p>
        </p:txBody>
      </p:sp>
      <p:pic>
        <p:nvPicPr>
          <p:cNvPr id="156" name="Google Shape;156;p2"/>
          <p:cNvPicPr preferRelativeResize="0"/>
          <p:nvPr/>
        </p:nvPicPr>
        <p:blipFill>
          <a:blip r:embed="rId5">
            <a:alphaModFix/>
          </a:blip>
          <a:stretch>
            <a:fillRect/>
          </a:stretch>
        </p:blipFill>
        <p:spPr>
          <a:xfrm>
            <a:off x="299408" y="1002700"/>
            <a:ext cx="544742" cy="575812"/>
          </a:xfrm>
          <a:prstGeom prst="rect">
            <a:avLst/>
          </a:prstGeom>
          <a:noFill/>
          <a:ln>
            <a:noFill/>
          </a:ln>
        </p:spPr>
      </p:pic>
      <p:pic>
        <p:nvPicPr>
          <p:cNvPr id="157" name="Google Shape;157;p2"/>
          <p:cNvPicPr preferRelativeResize="0"/>
          <p:nvPr/>
        </p:nvPicPr>
        <p:blipFill>
          <a:blip r:embed="rId6">
            <a:alphaModFix/>
          </a:blip>
          <a:stretch>
            <a:fillRect/>
          </a:stretch>
        </p:blipFill>
        <p:spPr>
          <a:xfrm>
            <a:off x="299400" y="1772166"/>
            <a:ext cx="544742" cy="575812"/>
          </a:xfrm>
          <a:prstGeom prst="rect">
            <a:avLst/>
          </a:prstGeom>
          <a:noFill/>
          <a:ln>
            <a:noFill/>
          </a:ln>
        </p:spPr>
      </p:pic>
      <p:pic>
        <p:nvPicPr>
          <p:cNvPr id="158" name="Google Shape;158;p2"/>
          <p:cNvPicPr preferRelativeResize="0"/>
          <p:nvPr/>
        </p:nvPicPr>
        <p:blipFill>
          <a:blip r:embed="rId7">
            <a:alphaModFix/>
          </a:blip>
          <a:stretch>
            <a:fillRect/>
          </a:stretch>
        </p:blipFill>
        <p:spPr>
          <a:xfrm>
            <a:off x="299407" y="3359113"/>
            <a:ext cx="544742" cy="575812"/>
          </a:xfrm>
          <a:prstGeom prst="rect">
            <a:avLst/>
          </a:prstGeom>
          <a:noFill/>
          <a:ln>
            <a:noFill/>
          </a:ln>
        </p:spPr>
      </p:pic>
      <p:pic>
        <p:nvPicPr>
          <p:cNvPr id="159" name="Google Shape;159;p2"/>
          <p:cNvPicPr preferRelativeResize="0"/>
          <p:nvPr/>
        </p:nvPicPr>
        <p:blipFill rotWithShape="1">
          <a:blip r:embed="rId8">
            <a:alphaModFix/>
          </a:blip>
          <a:srcRect/>
          <a:stretch/>
        </p:blipFill>
        <p:spPr>
          <a:xfrm>
            <a:off x="6881325" y="76200"/>
            <a:ext cx="2186473" cy="523900"/>
          </a:xfrm>
          <a:prstGeom prst="rect">
            <a:avLst/>
          </a:prstGeom>
          <a:noFill/>
          <a:ln>
            <a:noFill/>
          </a:ln>
        </p:spPr>
      </p:pic>
      <p:pic>
        <p:nvPicPr>
          <p:cNvPr id="160" name="Google Shape;160;p2"/>
          <p:cNvPicPr preferRelativeResize="0"/>
          <p:nvPr/>
        </p:nvPicPr>
        <p:blipFill rotWithShape="1">
          <a:blip r:embed="rId9">
            <a:alphaModFix amt="30000"/>
          </a:blip>
          <a:srcRect/>
          <a:stretch/>
        </p:blipFill>
        <p:spPr>
          <a:xfrm>
            <a:off x="7954475" y="3934925"/>
            <a:ext cx="1037125" cy="10371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3"/>
          <p:cNvPicPr preferRelativeResize="0"/>
          <p:nvPr/>
        </p:nvPicPr>
        <p:blipFill>
          <a:blip r:embed="rId3">
            <a:alphaModFix/>
          </a:blip>
          <a:stretch>
            <a:fillRect/>
          </a:stretch>
        </p:blipFill>
        <p:spPr>
          <a:xfrm>
            <a:off x="0" y="0"/>
            <a:ext cx="9144000" cy="5143500"/>
          </a:xfrm>
          <a:prstGeom prst="rect">
            <a:avLst/>
          </a:prstGeom>
          <a:noFill/>
          <a:ln>
            <a:noFill/>
          </a:ln>
        </p:spPr>
      </p:pic>
      <p:sp>
        <p:nvSpPr>
          <p:cNvPr id="166" name="Google Shape;166;p3"/>
          <p:cNvSpPr txBox="1">
            <a:spLocks noGrp="1"/>
          </p:cNvSpPr>
          <p:nvPr>
            <p:ph type="title"/>
          </p:nvPr>
        </p:nvSpPr>
        <p:spPr>
          <a:xfrm>
            <a:off x="457200" y="274046"/>
            <a:ext cx="4876800" cy="5994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Clr>
                <a:schemeClr val="accent1"/>
              </a:buClr>
              <a:buSzPts val="4000"/>
              <a:buFont typeface="Quattrocento Sans"/>
              <a:buNone/>
            </a:pPr>
            <a:r>
              <a:rPr lang="en-US"/>
              <a:t>Tools &amp; Technologies</a:t>
            </a:r>
            <a:endParaRPr/>
          </a:p>
        </p:txBody>
      </p:sp>
      <p:sp>
        <p:nvSpPr>
          <p:cNvPr id="167" name="Google Shape;167;p3"/>
          <p:cNvSpPr txBox="1">
            <a:spLocks noGrp="1"/>
          </p:cNvSpPr>
          <p:nvPr>
            <p:ph type="body" idx="1"/>
          </p:nvPr>
        </p:nvSpPr>
        <p:spPr>
          <a:xfrm>
            <a:off x="457200" y="1200150"/>
            <a:ext cx="5196000" cy="3429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600" b="1"/>
              <a:t>Technologies</a:t>
            </a:r>
            <a:endParaRPr sz="1600" b="1"/>
          </a:p>
          <a:p>
            <a:pPr marL="457200" lvl="0" indent="-317500" algn="l" rtl="0">
              <a:spcBef>
                <a:spcPts val="0"/>
              </a:spcBef>
              <a:spcAft>
                <a:spcPts val="0"/>
              </a:spcAft>
              <a:buSzPts val="1400"/>
              <a:buChar char="●"/>
            </a:pPr>
            <a:r>
              <a:rPr lang="en-US" sz="1400"/>
              <a:t>Programming Language: Java</a:t>
            </a:r>
            <a:endParaRPr sz="1400"/>
          </a:p>
          <a:p>
            <a:pPr marL="457200" lvl="0" indent="-317500" algn="l" rtl="0">
              <a:spcBef>
                <a:spcPts val="0"/>
              </a:spcBef>
              <a:spcAft>
                <a:spcPts val="0"/>
              </a:spcAft>
              <a:buSzPts val="1400"/>
              <a:buChar char="●"/>
            </a:pPr>
            <a:r>
              <a:rPr lang="en-US" sz="1400"/>
              <a:t>Framework: JavaFX Framework</a:t>
            </a:r>
            <a:endParaRPr sz="1400"/>
          </a:p>
          <a:p>
            <a:pPr marL="914400" lvl="1" indent="-304800" algn="l" rtl="0">
              <a:spcBef>
                <a:spcPts val="0"/>
              </a:spcBef>
              <a:spcAft>
                <a:spcPts val="0"/>
              </a:spcAft>
              <a:buSzPts val="1200"/>
              <a:buChar char="○"/>
            </a:pPr>
            <a:r>
              <a:rPr lang="en-US" sz="1200"/>
              <a:t>FXML Builder: Scene Builder</a:t>
            </a:r>
            <a:endParaRPr sz="1200"/>
          </a:p>
          <a:p>
            <a:pPr marL="457200" lvl="0" indent="-317500" algn="l" rtl="0">
              <a:spcBef>
                <a:spcPts val="0"/>
              </a:spcBef>
              <a:spcAft>
                <a:spcPts val="0"/>
              </a:spcAft>
              <a:buSzPts val="1400"/>
              <a:buChar char="●"/>
            </a:pPr>
            <a:r>
              <a:rPr lang="en-US" sz="1400"/>
              <a:t>Build Tool: Ant</a:t>
            </a:r>
            <a:endParaRPr sz="1400"/>
          </a:p>
          <a:p>
            <a:pPr marL="457200" lvl="0" indent="-317500" algn="l" rtl="0">
              <a:spcBef>
                <a:spcPts val="0"/>
              </a:spcBef>
              <a:spcAft>
                <a:spcPts val="0"/>
              </a:spcAft>
              <a:buSzPts val="1400"/>
              <a:buChar char="●"/>
            </a:pPr>
            <a:r>
              <a:rPr lang="en-US" sz="1400"/>
              <a:t>Build Server: Gitlab CI/CD</a:t>
            </a:r>
            <a:endParaRPr sz="1400"/>
          </a:p>
          <a:p>
            <a:pPr marL="457200" lvl="0" indent="-317500" algn="l" rtl="0">
              <a:spcBef>
                <a:spcPts val="0"/>
              </a:spcBef>
              <a:spcAft>
                <a:spcPts val="0"/>
              </a:spcAft>
              <a:buSzPts val="1400"/>
              <a:buChar char="●"/>
            </a:pPr>
            <a:r>
              <a:rPr lang="en-US" sz="1400"/>
              <a:t>Static Code Checker(s): SonarQube/SonarLint</a:t>
            </a:r>
            <a:endParaRPr sz="1400"/>
          </a:p>
          <a:p>
            <a:pPr marL="457200" lvl="0" indent="-317500" algn="l" rtl="0">
              <a:spcBef>
                <a:spcPts val="0"/>
              </a:spcBef>
              <a:spcAft>
                <a:spcPts val="0"/>
              </a:spcAft>
              <a:buSzPts val="1400"/>
              <a:buChar char="●"/>
            </a:pPr>
            <a:r>
              <a:rPr lang="en-US" sz="1400"/>
              <a:t>Dynamic Code Checker: Intellij Profiler</a:t>
            </a:r>
            <a:endParaRPr sz="1400"/>
          </a:p>
          <a:p>
            <a:pPr marL="0" lvl="0" indent="0" algn="l" rtl="0">
              <a:spcBef>
                <a:spcPts val="0"/>
              </a:spcBef>
              <a:spcAft>
                <a:spcPts val="0"/>
              </a:spcAft>
              <a:buNone/>
            </a:pPr>
            <a:endParaRPr sz="1600"/>
          </a:p>
          <a:p>
            <a:pPr marL="0" lvl="0" indent="0" algn="l" rtl="0">
              <a:spcBef>
                <a:spcPts val="0"/>
              </a:spcBef>
              <a:spcAft>
                <a:spcPts val="0"/>
              </a:spcAft>
              <a:buNone/>
            </a:pPr>
            <a:r>
              <a:rPr lang="en-US" sz="1600" b="1"/>
              <a:t>Documentation &amp; Design</a:t>
            </a:r>
            <a:endParaRPr sz="1600" b="1"/>
          </a:p>
          <a:p>
            <a:pPr marL="457200" lvl="0" indent="-317500" algn="l" rtl="0">
              <a:spcBef>
                <a:spcPts val="0"/>
              </a:spcBef>
              <a:spcAft>
                <a:spcPts val="0"/>
              </a:spcAft>
              <a:buSzPts val="1400"/>
              <a:buChar char="●"/>
            </a:pPr>
            <a:r>
              <a:rPr lang="en-US" sz="1400"/>
              <a:t>Google Document, Spreadsheet</a:t>
            </a:r>
            <a:endParaRPr sz="1400"/>
          </a:p>
          <a:p>
            <a:pPr marL="457200" lvl="0" indent="-317500" algn="l" rtl="0">
              <a:spcBef>
                <a:spcPts val="0"/>
              </a:spcBef>
              <a:spcAft>
                <a:spcPts val="0"/>
              </a:spcAft>
              <a:buSzPts val="1400"/>
              <a:buChar char="●"/>
            </a:pPr>
            <a:r>
              <a:rPr lang="en-US" sz="1400"/>
              <a:t>Figma</a:t>
            </a:r>
            <a:endParaRPr sz="1400"/>
          </a:p>
        </p:txBody>
      </p:sp>
      <p:pic>
        <p:nvPicPr>
          <p:cNvPr id="168" name="Google Shape;168;p3"/>
          <p:cNvPicPr preferRelativeResize="0"/>
          <p:nvPr/>
        </p:nvPicPr>
        <p:blipFill rotWithShape="1">
          <a:blip r:embed="rId4">
            <a:alphaModFix/>
          </a:blip>
          <a:srcRect b="28000"/>
          <a:stretch/>
        </p:blipFill>
        <p:spPr>
          <a:xfrm>
            <a:off x="4270092" y="310797"/>
            <a:ext cx="740700" cy="817525"/>
          </a:xfrm>
          <a:prstGeom prst="rect">
            <a:avLst/>
          </a:prstGeom>
          <a:noFill/>
          <a:ln>
            <a:noFill/>
          </a:ln>
        </p:spPr>
      </p:pic>
      <p:pic>
        <p:nvPicPr>
          <p:cNvPr id="169" name="Google Shape;169;p3"/>
          <p:cNvPicPr preferRelativeResize="0"/>
          <p:nvPr/>
        </p:nvPicPr>
        <p:blipFill rotWithShape="1">
          <a:blip r:embed="rId5">
            <a:alphaModFix/>
          </a:blip>
          <a:srcRect l="30986"/>
          <a:stretch/>
        </p:blipFill>
        <p:spPr>
          <a:xfrm>
            <a:off x="4974692" y="76200"/>
            <a:ext cx="1131525" cy="684025"/>
          </a:xfrm>
          <a:prstGeom prst="rect">
            <a:avLst/>
          </a:prstGeom>
          <a:noFill/>
          <a:ln>
            <a:noFill/>
          </a:ln>
        </p:spPr>
      </p:pic>
      <p:pic>
        <p:nvPicPr>
          <p:cNvPr id="170" name="Google Shape;170;p3"/>
          <p:cNvPicPr preferRelativeResize="0"/>
          <p:nvPr/>
        </p:nvPicPr>
        <p:blipFill>
          <a:blip r:embed="rId6">
            <a:alphaModFix/>
          </a:blip>
          <a:stretch>
            <a:fillRect/>
          </a:stretch>
        </p:blipFill>
        <p:spPr>
          <a:xfrm>
            <a:off x="5153966" y="873438"/>
            <a:ext cx="684000" cy="684025"/>
          </a:xfrm>
          <a:prstGeom prst="rect">
            <a:avLst/>
          </a:prstGeom>
          <a:noFill/>
          <a:ln>
            <a:noFill/>
          </a:ln>
        </p:spPr>
      </p:pic>
      <p:pic>
        <p:nvPicPr>
          <p:cNvPr id="171" name="Google Shape;171;p3"/>
          <p:cNvPicPr preferRelativeResize="0"/>
          <p:nvPr/>
        </p:nvPicPr>
        <p:blipFill>
          <a:blip r:embed="rId7">
            <a:alphaModFix/>
          </a:blip>
          <a:stretch>
            <a:fillRect/>
          </a:stretch>
        </p:blipFill>
        <p:spPr>
          <a:xfrm>
            <a:off x="7729275" y="2708437"/>
            <a:ext cx="950325" cy="1062132"/>
          </a:xfrm>
          <a:prstGeom prst="rect">
            <a:avLst/>
          </a:prstGeom>
          <a:noFill/>
          <a:ln>
            <a:noFill/>
          </a:ln>
        </p:spPr>
      </p:pic>
      <p:pic>
        <p:nvPicPr>
          <p:cNvPr id="172" name="Google Shape;172;p3"/>
          <p:cNvPicPr preferRelativeResize="0"/>
          <p:nvPr/>
        </p:nvPicPr>
        <p:blipFill rotWithShape="1">
          <a:blip r:embed="rId8">
            <a:alphaModFix/>
          </a:blip>
          <a:srcRect/>
          <a:stretch/>
        </p:blipFill>
        <p:spPr>
          <a:xfrm>
            <a:off x="6592551" y="1462225"/>
            <a:ext cx="2155075" cy="528247"/>
          </a:xfrm>
          <a:prstGeom prst="rect">
            <a:avLst/>
          </a:prstGeom>
          <a:noFill/>
          <a:ln>
            <a:noFill/>
          </a:ln>
        </p:spPr>
      </p:pic>
      <p:pic>
        <p:nvPicPr>
          <p:cNvPr id="173" name="Google Shape;173;p3"/>
          <p:cNvPicPr preferRelativeResize="0"/>
          <p:nvPr/>
        </p:nvPicPr>
        <p:blipFill>
          <a:blip r:embed="rId9">
            <a:alphaModFix/>
          </a:blip>
          <a:stretch>
            <a:fillRect/>
          </a:stretch>
        </p:blipFill>
        <p:spPr>
          <a:xfrm>
            <a:off x="5307475" y="2133237"/>
            <a:ext cx="1268258" cy="785176"/>
          </a:xfrm>
          <a:prstGeom prst="rect">
            <a:avLst/>
          </a:prstGeom>
          <a:noFill/>
          <a:ln>
            <a:noFill/>
          </a:ln>
        </p:spPr>
      </p:pic>
      <p:pic>
        <p:nvPicPr>
          <p:cNvPr id="174" name="Google Shape;174;p3"/>
          <p:cNvPicPr preferRelativeResize="0"/>
          <p:nvPr/>
        </p:nvPicPr>
        <p:blipFill>
          <a:blip r:embed="rId10">
            <a:alphaModFix/>
          </a:blip>
          <a:stretch>
            <a:fillRect/>
          </a:stretch>
        </p:blipFill>
        <p:spPr>
          <a:xfrm>
            <a:off x="3831300" y="4020971"/>
            <a:ext cx="574329" cy="794468"/>
          </a:xfrm>
          <a:prstGeom prst="rect">
            <a:avLst/>
          </a:prstGeom>
          <a:noFill/>
          <a:ln>
            <a:noFill/>
          </a:ln>
        </p:spPr>
      </p:pic>
      <p:pic>
        <p:nvPicPr>
          <p:cNvPr id="175" name="Google Shape;175;p3"/>
          <p:cNvPicPr preferRelativeResize="0"/>
          <p:nvPr/>
        </p:nvPicPr>
        <p:blipFill>
          <a:blip r:embed="rId11">
            <a:alphaModFix/>
          </a:blip>
          <a:stretch>
            <a:fillRect/>
          </a:stretch>
        </p:blipFill>
        <p:spPr>
          <a:xfrm>
            <a:off x="6592538" y="4137375"/>
            <a:ext cx="574326" cy="785183"/>
          </a:xfrm>
          <a:prstGeom prst="rect">
            <a:avLst/>
          </a:prstGeom>
          <a:noFill/>
          <a:ln>
            <a:noFill/>
          </a:ln>
        </p:spPr>
      </p:pic>
      <p:pic>
        <p:nvPicPr>
          <p:cNvPr id="176" name="Google Shape;176;p3"/>
          <p:cNvPicPr preferRelativeResize="0"/>
          <p:nvPr/>
        </p:nvPicPr>
        <p:blipFill>
          <a:blip r:embed="rId12">
            <a:alphaModFix/>
          </a:blip>
          <a:stretch>
            <a:fillRect/>
          </a:stretch>
        </p:blipFill>
        <p:spPr>
          <a:xfrm>
            <a:off x="5211937" y="3659227"/>
            <a:ext cx="574324" cy="861046"/>
          </a:xfrm>
          <a:prstGeom prst="rect">
            <a:avLst/>
          </a:prstGeom>
          <a:noFill/>
          <a:ln>
            <a:noFill/>
          </a:ln>
        </p:spPr>
      </p:pic>
      <p:pic>
        <p:nvPicPr>
          <p:cNvPr id="177" name="Google Shape;177;p3"/>
          <p:cNvPicPr preferRelativeResize="0"/>
          <p:nvPr/>
        </p:nvPicPr>
        <p:blipFill>
          <a:blip r:embed="rId13">
            <a:alphaModFix/>
          </a:blip>
          <a:stretch>
            <a:fillRect/>
          </a:stretch>
        </p:blipFill>
        <p:spPr>
          <a:xfrm>
            <a:off x="6824735" y="2173730"/>
            <a:ext cx="594981" cy="594983"/>
          </a:xfrm>
          <a:prstGeom prst="rect">
            <a:avLst/>
          </a:prstGeom>
          <a:noFill/>
          <a:ln>
            <a:noFill/>
          </a:ln>
        </p:spPr>
      </p:pic>
      <p:pic>
        <p:nvPicPr>
          <p:cNvPr id="178" name="Google Shape;178;p3"/>
          <p:cNvPicPr preferRelativeResize="0"/>
          <p:nvPr/>
        </p:nvPicPr>
        <p:blipFill rotWithShape="1">
          <a:blip r:embed="rId14">
            <a:alphaModFix/>
          </a:blip>
          <a:srcRect/>
          <a:stretch/>
        </p:blipFill>
        <p:spPr>
          <a:xfrm>
            <a:off x="6881325" y="76200"/>
            <a:ext cx="2186473" cy="5239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g2949cf0c9a0_0_0"/>
          <p:cNvPicPr preferRelativeResize="0"/>
          <p:nvPr/>
        </p:nvPicPr>
        <p:blipFill>
          <a:blip r:embed="rId3">
            <a:alphaModFix amt="10000"/>
          </a:blip>
          <a:stretch>
            <a:fillRect/>
          </a:stretch>
        </p:blipFill>
        <p:spPr>
          <a:xfrm>
            <a:off x="5683050" y="1682550"/>
            <a:ext cx="3232349" cy="3232349"/>
          </a:xfrm>
          <a:prstGeom prst="rect">
            <a:avLst/>
          </a:prstGeom>
          <a:noFill/>
          <a:ln>
            <a:noFill/>
          </a:ln>
        </p:spPr>
      </p:pic>
      <p:sp>
        <p:nvSpPr>
          <p:cNvPr id="184" name="Google Shape;184;g2949cf0c9a0_0_0"/>
          <p:cNvSpPr txBox="1">
            <a:spLocks noGrp="1"/>
          </p:cNvSpPr>
          <p:nvPr>
            <p:ph type="ctrTitle"/>
          </p:nvPr>
        </p:nvSpPr>
        <p:spPr>
          <a:xfrm>
            <a:off x="3537150" y="1578400"/>
            <a:ext cx="5017500" cy="15789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Clr>
                <a:schemeClr val="accent1"/>
              </a:buClr>
              <a:buSzPts val="4000"/>
              <a:buFont typeface="Quattrocento Sans"/>
              <a:buNone/>
            </a:pPr>
            <a:r>
              <a:rPr lang="en-US"/>
              <a:t>Static Code Analysis - Overview</a:t>
            </a:r>
            <a:endParaRPr/>
          </a:p>
        </p:txBody>
      </p:sp>
      <p:pic>
        <p:nvPicPr>
          <p:cNvPr id="185" name="Google Shape;185;g2949cf0c9a0_0_0"/>
          <p:cNvPicPr preferRelativeResize="0"/>
          <p:nvPr/>
        </p:nvPicPr>
        <p:blipFill rotWithShape="1">
          <a:blip r:embed="rId4">
            <a:alphaModFix/>
          </a:blip>
          <a:srcRect/>
          <a:stretch/>
        </p:blipFill>
        <p:spPr>
          <a:xfrm>
            <a:off x="6881325" y="76200"/>
            <a:ext cx="2186473" cy="5239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Shape 189"/>
        <p:cNvGrpSpPr/>
        <p:nvPr/>
      </p:nvGrpSpPr>
      <p:grpSpPr>
        <a:xfrm>
          <a:off x="0" y="0"/>
          <a:ext cx="0" cy="0"/>
          <a:chOff x="0" y="0"/>
          <a:chExt cx="0" cy="0"/>
        </a:xfrm>
      </p:grpSpPr>
      <p:pic>
        <p:nvPicPr>
          <p:cNvPr id="190" name="Google Shape;190;g2963e9b7ffc_0_0"/>
          <p:cNvPicPr preferRelativeResize="0"/>
          <p:nvPr/>
        </p:nvPicPr>
        <p:blipFill rotWithShape="1">
          <a:blip r:embed="rId3">
            <a:alphaModFix/>
          </a:blip>
          <a:srcRect/>
          <a:stretch/>
        </p:blipFill>
        <p:spPr>
          <a:xfrm>
            <a:off x="6881325" y="76200"/>
            <a:ext cx="2186473" cy="523900"/>
          </a:xfrm>
          <a:prstGeom prst="rect">
            <a:avLst/>
          </a:prstGeom>
          <a:noFill/>
          <a:ln>
            <a:noFill/>
          </a:ln>
        </p:spPr>
      </p:pic>
      <p:sp>
        <p:nvSpPr>
          <p:cNvPr id="191" name="Google Shape;191;g2963e9b7ffc_0_0"/>
          <p:cNvSpPr txBox="1">
            <a:spLocks noGrp="1"/>
          </p:cNvSpPr>
          <p:nvPr>
            <p:ph type="title"/>
          </p:nvPr>
        </p:nvSpPr>
        <p:spPr>
          <a:xfrm>
            <a:off x="457200" y="274050"/>
            <a:ext cx="7911000" cy="5994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Clr>
                <a:schemeClr val="accent1"/>
              </a:buClr>
              <a:buSzPts val="4000"/>
              <a:buFont typeface="Quattrocento Sans"/>
              <a:buNone/>
            </a:pPr>
            <a:r>
              <a:rPr lang="en-US">
                <a:solidFill>
                  <a:schemeClr val="dk1"/>
                </a:solidFill>
              </a:rPr>
              <a:t>Starting Point</a:t>
            </a:r>
            <a:endParaRPr>
              <a:solidFill>
                <a:schemeClr val="dk1"/>
              </a:solidFill>
            </a:endParaRPr>
          </a:p>
        </p:txBody>
      </p:sp>
      <p:pic>
        <p:nvPicPr>
          <p:cNvPr id="192" name="Google Shape;192;g2963e9b7ffc_0_0"/>
          <p:cNvPicPr preferRelativeResize="0"/>
          <p:nvPr/>
        </p:nvPicPr>
        <p:blipFill rotWithShape="1">
          <a:blip r:embed="rId4">
            <a:alphaModFix/>
          </a:blip>
          <a:srcRect/>
          <a:stretch/>
        </p:blipFill>
        <p:spPr>
          <a:xfrm>
            <a:off x="567538" y="873450"/>
            <a:ext cx="8008918" cy="4101351"/>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g29497ea7dba_0_152"/>
          <p:cNvPicPr preferRelativeResize="0"/>
          <p:nvPr/>
        </p:nvPicPr>
        <p:blipFill>
          <a:blip r:embed="rId3">
            <a:alphaModFix/>
          </a:blip>
          <a:stretch>
            <a:fillRect/>
          </a:stretch>
        </p:blipFill>
        <p:spPr>
          <a:xfrm>
            <a:off x="0" y="0"/>
            <a:ext cx="9144000" cy="5143500"/>
          </a:xfrm>
          <a:prstGeom prst="rect">
            <a:avLst/>
          </a:prstGeom>
          <a:noFill/>
          <a:ln>
            <a:noFill/>
          </a:ln>
        </p:spPr>
      </p:pic>
      <p:sp>
        <p:nvSpPr>
          <p:cNvPr id="198" name="Google Shape;198;g29497ea7dba_0_152"/>
          <p:cNvSpPr txBox="1">
            <a:spLocks noGrp="1"/>
          </p:cNvSpPr>
          <p:nvPr>
            <p:ph type="title"/>
          </p:nvPr>
        </p:nvSpPr>
        <p:spPr>
          <a:xfrm>
            <a:off x="457200" y="274050"/>
            <a:ext cx="8475300" cy="9837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Clr>
                <a:schemeClr val="accent1"/>
              </a:buClr>
              <a:buSzPts val="4000"/>
              <a:buFont typeface="Quattrocento Sans"/>
              <a:buNone/>
            </a:pPr>
            <a:r>
              <a:rPr lang="en-US" sz="2500"/>
              <a:t>What did the analyzers find?</a:t>
            </a:r>
            <a:endParaRPr sz="2500"/>
          </a:p>
        </p:txBody>
      </p:sp>
      <p:sp>
        <p:nvSpPr>
          <p:cNvPr id="199" name="Google Shape;199;g29497ea7dba_0_152"/>
          <p:cNvSpPr txBox="1">
            <a:spLocks noGrp="1"/>
          </p:cNvSpPr>
          <p:nvPr>
            <p:ph type="body" idx="1"/>
          </p:nvPr>
        </p:nvSpPr>
        <p:spPr>
          <a:xfrm>
            <a:off x="307725" y="1200150"/>
            <a:ext cx="4404900" cy="342900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None/>
            </a:pPr>
            <a:endParaRPr/>
          </a:p>
          <a:p>
            <a:pPr marL="457200" lvl="0" indent="-320040" algn="l" rtl="0">
              <a:spcBef>
                <a:spcPts val="0"/>
              </a:spcBef>
              <a:spcAft>
                <a:spcPts val="0"/>
              </a:spcAft>
              <a:buSzPts val="1440"/>
              <a:buChar char="●"/>
            </a:pPr>
            <a:r>
              <a:rPr lang="en-US"/>
              <a:t>Mostly TODOs → Complete the task associated to this TODO comment x7</a:t>
            </a:r>
            <a:endParaRPr/>
          </a:p>
          <a:p>
            <a:pPr marL="457200" lvl="0" indent="-320040" algn="l" rtl="0">
              <a:spcBef>
                <a:spcPts val="1000"/>
              </a:spcBef>
              <a:spcAft>
                <a:spcPts val="0"/>
              </a:spcAft>
              <a:buSzPts val="1440"/>
              <a:buChar char="●"/>
            </a:pPr>
            <a:r>
              <a:rPr lang="en-US"/>
              <a:t>Provide the parameterized type for this generic x1</a:t>
            </a:r>
            <a:endParaRPr/>
          </a:p>
          <a:p>
            <a:pPr marL="457200" lvl="0" indent="-320040" algn="l" rtl="0">
              <a:spcBef>
                <a:spcPts val="1000"/>
              </a:spcBef>
              <a:spcAft>
                <a:spcPts val="0"/>
              </a:spcAft>
              <a:buSzPts val="1440"/>
              <a:buChar char="●"/>
            </a:pPr>
            <a:r>
              <a:rPr lang="en-US"/>
              <a:t>Remove this unused {name of field} private field x3</a:t>
            </a:r>
            <a:endParaRPr/>
          </a:p>
          <a:p>
            <a:pPr marL="457200" lvl="0" indent="-320040" algn="l" rtl="0">
              <a:spcBef>
                <a:spcPts val="1000"/>
              </a:spcBef>
              <a:spcAft>
                <a:spcPts val="0"/>
              </a:spcAft>
              <a:buSzPts val="1440"/>
              <a:buChar char="●"/>
            </a:pPr>
            <a:r>
              <a:rPr lang="en-US"/>
              <a:t>Remove this unused method parameter {name of parameter} x1</a:t>
            </a:r>
            <a:endParaRPr/>
          </a:p>
          <a:p>
            <a:pPr marL="457200" lvl="0" indent="-320040" algn="l" rtl="0">
              <a:spcBef>
                <a:spcPts val="1000"/>
              </a:spcBef>
              <a:spcAft>
                <a:spcPts val="0"/>
              </a:spcAft>
              <a:buSzPts val="1440"/>
              <a:buChar char="●"/>
            </a:pPr>
            <a:r>
              <a:rPr lang="en-US"/>
              <a:t>Replace this use of System.out by a logger x6</a:t>
            </a:r>
            <a:endParaRPr/>
          </a:p>
          <a:p>
            <a:pPr marL="457200" lvl="0" indent="-320040" algn="l" rtl="0">
              <a:spcBef>
                <a:spcPts val="1000"/>
              </a:spcBef>
              <a:spcAft>
                <a:spcPts val="1000"/>
              </a:spcAft>
              <a:buSzPts val="1440"/>
              <a:buChar char="●"/>
            </a:pPr>
            <a:r>
              <a:rPr lang="en-US"/>
              <a:t>This block of commented-out lines of code should be removed x2</a:t>
            </a:r>
            <a:endParaRPr/>
          </a:p>
        </p:txBody>
      </p:sp>
      <p:sp>
        <p:nvSpPr>
          <p:cNvPr id="200" name="Google Shape;200;g29497ea7dba_0_152"/>
          <p:cNvSpPr txBox="1"/>
          <p:nvPr/>
        </p:nvSpPr>
        <p:spPr>
          <a:xfrm>
            <a:off x="7069200" y="4573700"/>
            <a:ext cx="186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i="1">
                <a:solidFill>
                  <a:schemeClr val="lt1"/>
                </a:solidFill>
                <a:latin typeface="Montserrat"/>
                <a:ea typeface="Montserrat"/>
                <a:cs typeface="Montserrat"/>
                <a:sym typeface="Montserrat"/>
              </a:rPr>
              <a:t>But there’s more…</a:t>
            </a:r>
            <a:endParaRPr i="1">
              <a:solidFill>
                <a:schemeClr val="lt1"/>
              </a:solidFill>
              <a:latin typeface="Montserrat"/>
              <a:ea typeface="Montserrat"/>
              <a:cs typeface="Montserrat"/>
              <a:sym typeface="Montserrat"/>
            </a:endParaRPr>
          </a:p>
        </p:txBody>
      </p:sp>
      <p:pic>
        <p:nvPicPr>
          <p:cNvPr id="201" name="Google Shape;201;g29497ea7dba_0_152"/>
          <p:cNvPicPr preferRelativeResize="0"/>
          <p:nvPr/>
        </p:nvPicPr>
        <p:blipFill>
          <a:blip r:embed="rId4">
            <a:alphaModFix/>
          </a:blip>
          <a:stretch>
            <a:fillRect/>
          </a:stretch>
        </p:blipFill>
        <p:spPr>
          <a:xfrm>
            <a:off x="4760150" y="2100400"/>
            <a:ext cx="4231560" cy="2159138"/>
          </a:xfrm>
          <a:prstGeom prst="rect">
            <a:avLst/>
          </a:prstGeom>
          <a:noFill/>
          <a:ln>
            <a:noFill/>
          </a:ln>
        </p:spPr>
      </p:pic>
      <p:sp>
        <p:nvSpPr>
          <p:cNvPr id="202" name="Google Shape;202;g29497ea7dba_0_152"/>
          <p:cNvSpPr/>
          <p:nvPr/>
        </p:nvSpPr>
        <p:spPr>
          <a:xfrm>
            <a:off x="6986150" y="2100400"/>
            <a:ext cx="687000" cy="242700"/>
          </a:xfrm>
          <a:prstGeom prst="roundRect">
            <a:avLst>
              <a:gd name="adj" fmla="val 16667"/>
            </a:avLst>
          </a:prstGeom>
          <a:noFill/>
          <a:ln w="28575" cap="flat" cmpd="sng">
            <a:solidFill>
              <a:srgbClr val="F7690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3" name="Google Shape;203;g29497ea7dba_0_152"/>
          <p:cNvSpPr/>
          <p:nvPr/>
        </p:nvSpPr>
        <p:spPr>
          <a:xfrm>
            <a:off x="5069925" y="3662900"/>
            <a:ext cx="3233100" cy="242700"/>
          </a:xfrm>
          <a:prstGeom prst="roundRect">
            <a:avLst>
              <a:gd name="adj" fmla="val 16667"/>
            </a:avLst>
          </a:prstGeom>
          <a:noFill/>
          <a:ln w="28575" cap="flat" cmpd="sng">
            <a:solidFill>
              <a:srgbClr val="F7690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204" name="Google Shape;204;g29497ea7dba_0_152"/>
          <p:cNvPicPr preferRelativeResize="0"/>
          <p:nvPr/>
        </p:nvPicPr>
        <p:blipFill>
          <a:blip r:embed="rId5">
            <a:alphaModFix/>
          </a:blip>
          <a:stretch>
            <a:fillRect/>
          </a:stretch>
        </p:blipFill>
        <p:spPr>
          <a:xfrm>
            <a:off x="5315175" y="855775"/>
            <a:ext cx="3311576" cy="1090500"/>
          </a:xfrm>
          <a:prstGeom prst="rect">
            <a:avLst/>
          </a:prstGeom>
          <a:noFill/>
          <a:ln>
            <a:noFill/>
          </a:ln>
        </p:spPr>
      </p:pic>
      <p:sp>
        <p:nvSpPr>
          <p:cNvPr id="205" name="Google Shape;205;g29497ea7dba_0_152"/>
          <p:cNvSpPr/>
          <p:nvPr/>
        </p:nvSpPr>
        <p:spPr>
          <a:xfrm>
            <a:off x="5622975" y="1373775"/>
            <a:ext cx="2456100" cy="359700"/>
          </a:xfrm>
          <a:prstGeom prst="roundRect">
            <a:avLst>
              <a:gd name="adj" fmla="val 16667"/>
            </a:avLst>
          </a:prstGeom>
          <a:noFill/>
          <a:ln w="28575" cap="flat" cmpd="sng">
            <a:solidFill>
              <a:srgbClr val="F7690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206" name="Google Shape;206;g29497ea7dba_0_152"/>
          <p:cNvPicPr preferRelativeResize="0"/>
          <p:nvPr/>
        </p:nvPicPr>
        <p:blipFill rotWithShape="1">
          <a:blip r:embed="rId6">
            <a:alphaModFix/>
          </a:blip>
          <a:srcRect/>
          <a:stretch/>
        </p:blipFill>
        <p:spPr>
          <a:xfrm>
            <a:off x="6881325" y="76200"/>
            <a:ext cx="2186473" cy="5239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2962df060c2_1_0"/>
          <p:cNvSpPr txBox="1">
            <a:spLocks noGrp="1"/>
          </p:cNvSpPr>
          <p:nvPr>
            <p:ph type="ctrTitle"/>
          </p:nvPr>
        </p:nvSpPr>
        <p:spPr>
          <a:xfrm>
            <a:off x="3537150" y="1578400"/>
            <a:ext cx="5017500" cy="15789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Clr>
                <a:schemeClr val="accent1"/>
              </a:buClr>
              <a:buSzPts val="4000"/>
              <a:buFont typeface="Quattrocento Sans"/>
              <a:buNone/>
            </a:pPr>
            <a:r>
              <a:rPr lang="en-US"/>
              <a:t>Cognitive Complexity</a:t>
            </a:r>
            <a:endParaRPr/>
          </a:p>
        </p:txBody>
      </p:sp>
      <p:pic>
        <p:nvPicPr>
          <p:cNvPr id="213" name="Google Shape;213;g2962df060c2_1_0"/>
          <p:cNvPicPr preferRelativeResize="0"/>
          <p:nvPr/>
        </p:nvPicPr>
        <p:blipFill>
          <a:blip r:embed="rId3">
            <a:alphaModFix amt="10000"/>
          </a:blip>
          <a:stretch>
            <a:fillRect/>
          </a:stretch>
        </p:blipFill>
        <p:spPr>
          <a:xfrm>
            <a:off x="5616925" y="1616425"/>
            <a:ext cx="3298476" cy="3298476"/>
          </a:xfrm>
          <a:prstGeom prst="rect">
            <a:avLst/>
          </a:prstGeom>
          <a:noFill/>
          <a:ln>
            <a:noFill/>
          </a:ln>
        </p:spPr>
      </p:pic>
      <p:pic>
        <p:nvPicPr>
          <p:cNvPr id="214" name="Google Shape;214;g2962df060c2_1_0"/>
          <p:cNvPicPr preferRelativeResize="0"/>
          <p:nvPr/>
        </p:nvPicPr>
        <p:blipFill rotWithShape="1">
          <a:blip r:embed="rId4">
            <a:alphaModFix/>
          </a:blip>
          <a:srcRect/>
          <a:stretch/>
        </p:blipFill>
        <p:spPr>
          <a:xfrm>
            <a:off x="6881325" y="76200"/>
            <a:ext cx="2186473" cy="5239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Shape 218"/>
        <p:cNvGrpSpPr/>
        <p:nvPr/>
      </p:nvGrpSpPr>
      <p:grpSpPr>
        <a:xfrm>
          <a:off x="0" y="0"/>
          <a:ext cx="0" cy="0"/>
          <a:chOff x="0" y="0"/>
          <a:chExt cx="0" cy="0"/>
        </a:xfrm>
      </p:grpSpPr>
      <p:sp>
        <p:nvSpPr>
          <p:cNvPr id="219" name="Google Shape;219;g29497ea7dba_0_146"/>
          <p:cNvSpPr txBox="1">
            <a:spLocks noGrp="1"/>
          </p:cNvSpPr>
          <p:nvPr>
            <p:ph type="title"/>
          </p:nvPr>
        </p:nvSpPr>
        <p:spPr>
          <a:xfrm>
            <a:off x="457200" y="274052"/>
            <a:ext cx="6347100" cy="9273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Clr>
                <a:schemeClr val="accent1"/>
              </a:buClr>
              <a:buSzPts val="4000"/>
              <a:buFont typeface="Quattrocento Sans"/>
              <a:buNone/>
            </a:pPr>
            <a:r>
              <a:rPr lang="en-US">
                <a:solidFill>
                  <a:schemeClr val="dk1"/>
                </a:solidFill>
              </a:rPr>
              <a:t>SonarQube Analysis</a:t>
            </a:r>
            <a:endParaRPr>
              <a:solidFill>
                <a:schemeClr val="dk1"/>
              </a:solidFill>
            </a:endParaRPr>
          </a:p>
        </p:txBody>
      </p:sp>
      <p:pic>
        <p:nvPicPr>
          <p:cNvPr id="220" name="Google Shape;220;g29497ea7dba_0_146"/>
          <p:cNvPicPr preferRelativeResize="0"/>
          <p:nvPr/>
        </p:nvPicPr>
        <p:blipFill rotWithShape="1">
          <a:blip r:embed="rId3">
            <a:alphaModFix/>
          </a:blip>
          <a:srcRect l="1150" t="2458" r="2944"/>
          <a:stretch/>
        </p:blipFill>
        <p:spPr>
          <a:xfrm>
            <a:off x="191850" y="1201350"/>
            <a:ext cx="8760300" cy="3247800"/>
          </a:xfrm>
          <a:prstGeom prst="roundRect">
            <a:avLst>
              <a:gd name="adj" fmla="val 0"/>
            </a:avLst>
          </a:prstGeom>
          <a:noFill/>
          <a:ln>
            <a:noFill/>
          </a:ln>
        </p:spPr>
      </p:pic>
      <p:sp>
        <p:nvSpPr>
          <p:cNvPr id="221" name="Google Shape;221;g29497ea7dba_0_146"/>
          <p:cNvSpPr txBox="1"/>
          <p:nvPr/>
        </p:nvSpPr>
        <p:spPr>
          <a:xfrm>
            <a:off x="5281550" y="2848875"/>
            <a:ext cx="1183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solidFill>
                  <a:schemeClr val="dk1"/>
                </a:solidFill>
                <a:latin typeface="Montserrat"/>
                <a:ea typeface="Montserrat"/>
                <a:cs typeface="Montserrat"/>
                <a:sym typeface="Montserrat"/>
              </a:rPr>
              <a:t>↪ </a:t>
            </a:r>
            <a:r>
              <a:rPr lang="en-US" sz="1000" i="1">
                <a:solidFill>
                  <a:schemeClr val="dk1"/>
                </a:solidFill>
                <a:latin typeface="Montserrat"/>
                <a:ea typeface="Montserrat"/>
                <a:cs typeface="Montserrat"/>
                <a:sym typeface="Montserrat"/>
              </a:rPr>
              <a:t>Lines of Code</a:t>
            </a:r>
            <a:endParaRPr sz="1000" i="1">
              <a:solidFill>
                <a:schemeClr val="dk1"/>
              </a:solidFill>
              <a:latin typeface="Montserrat"/>
              <a:ea typeface="Montserrat"/>
              <a:cs typeface="Montserrat"/>
              <a:sym typeface="Montserrat"/>
            </a:endParaRPr>
          </a:p>
        </p:txBody>
      </p:sp>
      <p:sp>
        <p:nvSpPr>
          <p:cNvPr id="222" name="Google Shape;222;g29497ea7dba_0_146"/>
          <p:cNvSpPr/>
          <p:nvPr/>
        </p:nvSpPr>
        <p:spPr>
          <a:xfrm>
            <a:off x="2925025" y="1259663"/>
            <a:ext cx="785100" cy="245400"/>
          </a:xfrm>
          <a:prstGeom prst="leftArrow">
            <a:avLst>
              <a:gd name="adj1" fmla="val 41728"/>
              <a:gd name="adj2" fmla="val 125346"/>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223" name="Google Shape;223;g29497ea7dba_0_146"/>
          <p:cNvPicPr preferRelativeResize="0"/>
          <p:nvPr/>
        </p:nvPicPr>
        <p:blipFill rotWithShape="1">
          <a:blip r:embed="rId4">
            <a:alphaModFix/>
          </a:blip>
          <a:srcRect/>
          <a:stretch/>
        </p:blipFill>
        <p:spPr>
          <a:xfrm>
            <a:off x="6881325" y="76200"/>
            <a:ext cx="2186473" cy="5239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anim calcmode="lin" valueType="num">
                                      <p:cBhvr additive="base">
                                        <p:cTn id="7" dur="1000"/>
                                        <p:tgtEl>
                                          <p:spTgt spid="22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g2949cf0c9a0_0_25"/>
          <p:cNvPicPr preferRelativeResize="0"/>
          <p:nvPr/>
        </p:nvPicPr>
        <p:blipFill>
          <a:blip r:embed="rId3">
            <a:alphaModFix/>
          </a:blip>
          <a:stretch>
            <a:fillRect/>
          </a:stretch>
        </p:blipFill>
        <p:spPr>
          <a:xfrm>
            <a:off x="0" y="0"/>
            <a:ext cx="9144000" cy="5143500"/>
          </a:xfrm>
          <a:prstGeom prst="rect">
            <a:avLst/>
          </a:prstGeom>
          <a:noFill/>
          <a:ln>
            <a:noFill/>
          </a:ln>
        </p:spPr>
      </p:pic>
      <p:sp>
        <p:nvSpPr>
          <p:cNvPr id="229" name="Google Shape;229;g2949cf0c9a0_0_25"/>
          <p:cNvSpPr txBox="1">
            <a:spLocks noGrp="1"/>
          </p:cNvSpPr>
          <p:nvPr>
            <p:ph type="body" idx="1"/>
          </p:nvPr>
        </p:nvSpPr>
        <p:spPr>
          <a:xfrm>
            <a:off x="457200" y="1439200"/>
            <a:ext cx="4170300" cy="3525900"/>
          </a:xfrm>
          <a:prstGeom prst="rect">
            <a:avLst/>
          </a:prstGeom>
          <a:noFill/>
          <a:ln>
            <a:noFill/>
          </a:ln>
        </p:spPr>
        <p:txBody>
          <a:bodyPr spcFirstLastPara="1" wrap="square" lIns="91425" tIns="45700" rIns="91425" bIns="45700" anchor="t" anchorCtr="0">
            <a:normAutofit/>
          </a:bodyPr>
          <a:lstStyle/>
          <a:p>
            <a:pPr marL="457200" lvl="0" indent="-320040" algn="l" rtl="0">
              <a:spcBef>
                <a:spcPts val="1560"/>
              </a:spcBef>
              <a:spcAft>
                <a:spcPts val="0"/>
              </a:spcAft>
              <a:buSzPts val="1440"/>
              <a:buChar char="-"/>
            </a:pPr>
            <a:r>
              <a:rPr lang="en-US"/>
              <a:t>Measure of how difficult it is to intuitively understand a unit of code</a:t>
            </a:r>
            <a:endParaRPr/>
          </a:p>
          <a:p>
            <a:pPr marL="457200" lvl="0" indent="-320040" algn="l" rtl="0">
              <a:spcBef>
                <a:spcPts val="0"/>
              </a:spcBef>
              <a:spcAft>
                <a:spcPts val="0"/>
              </a:spcAft>
              <a:buSzPts val="1440"/>
              <a:buChar char="-"/>
            </a:pPr>
            <a:r>
              <a:rPr lang="en-US"/>
              <a:t>Calculated by the number control flow statements, and logical operators (“&amp;&amp;” and “||”)</a:t>
            </a:r>
            <a:endParaRPr/>
          </a:p>
        </p:txBody>
      </p:sp>
      <p:sp>
        <p:nvSpPr>
          <p:cNvPr id="230" name="Google Shape;230;g2949cf0c9a0_0_25"/>
          <p:cNvSpPr txBox="1">
            <a:spLocks noGrp="1"/>
          </p:cNvSpPr>
          <p:nvPr>
            <p:ph type="title"/>
          </p:nvPr>
        </p:nvSpPr>
        <p:spPr>
          <a:xfrm>
            <a:off x="457200" y="274050"/>
            <a:ext cx="8410800" cy="9273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Clr>
                <a:schemeClr val="accent1"/>
              </a:buClr>
              <a:buSzPts val="4000"/>
              <a:buFont typeface="Quattrocento Sans"/>
              <a:buNone/>
            </a:pPr>
            <a:r>
              <a:rPr lang="en-US"/>
              <a:t>What is Cognitive Complexity?</a:t>
            </a:r>
            <a:endParaRPr/>
          </a:p>
        </p:txBody>
      </p:sp>
      <p:pic>
        <p:nvPicPr>
          <p:cNvPr id="231" name="Google Shape;231;g2949cf0c9a0_0_25"/>
          <p:cNvPicPr preferRelativeResize="0"/>
          <p:nvPr/>
        </p:nvPicPr>
        <p:blipFill rotWithShape="1">
          <a:blip r:embed="rId4">
            <a:alphaModFix/>
          </a:blip>
          <a:srcRect/>
          <a:stretch/>
        </p:blipFill>
        <p:spPr>
          <a:xfrm>
            <a:off x="6881325" y="76200"/>
            <a:ext cx="2186473" cy="523900"/>
          </a:xfrm>
          <a:prstGeom prst="rect">
            <a:avLst/>
          </a:prstGeom>
          <a:noFill/>
          <a:ln>
            <a:noFill/>
          </a:ln>
        </p:spPr>
      </p:pic>
      <p:pic>
        <p:nvPicPr>
          <p:cNvPr id="232" name="Google Shape;232;g2949cf0c9a0_0_25"/>
          <p:cNvPicPr preferRelativeResize="0"/>
          <p:nvPr/>
        </p:nvPicPr>
        <p:blipFill rotWithShape="1">
          <a:blip r:embed="rId5">
            <a:alphaModFix/>
          </a:blip>
          <a:srcRect r="50134" b="27979"/>
          <a:stretch/>
        </p:blipFill>
        <p:spPr>
          <a:xfrm>
            <a:off x="4627500" y="1439200"/>
            <a:ext cx="4516475" cy="37043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2962df060c2_1_8"/>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8" name="Google Shape;238;g2962df060c2_1_8"/>
          <p:cNvSpPr txBox="1">
            <a:spLocks noGrp="1"/>
          </p:cNvSpPr>
          <p:nvPr>
            <p:ph type="body" idx="1"/>
          </p:nvPr>
        </p:nvSpPr>
        <p:spPr>
          <a:xfrm>
            <a:off x="457200" y="1439200"/>
            <a:ext cx="4170300" cy="3525900"/>
          </a:xfrm>
          <a:prstGeom prst="rect">
            <a:avLst/>
          </a:prstGeom>
          <a:noFill/>
          <a:ln>
            <a:noFill/>
          </a:ln>
        </p:spPr>
        <p:txBody>
          <a:bodyPr spcFirstLastPara="1" wrap="square" lIns="91425" tIns="45700" rIns="91425" bIns="45700" anchor="t" anchorCtr="0">
            <a:normAutofit/>
          </a:bodyPr>
          <a:lstStyle/>
          <a:p>
            <a:pPr marL="457200" lvl="0" indent="-320040" algn="l" rtl="0">
              <a:spcBef>
                <a:spcPts val="1560"/>
              </a:spcBef>
              <a:spcAft>
                <a:spcPts val="0"/>
              </a:spcAft>
              <a:buSzPts val="1440"/>
              <a:buChar char="-"/>
            </a:pPr>
            <a:r>
              <a:rPr lang="en-US"/>
              <a:t>Methods with high Cognitive Complexity are difficult to maintain</a:t>
            </a:r>
            <a:endParaRPr i="1"/>
          </a:p>
          <a:p>
            <a:pPr marL="914400" lvl="1" indent="-337185" algn="l" rtl="0">
              <a:spcBef>
                <a:spcPts val="0"/>
              </a:spcBef>
              <a:spcAft>
                <a:spcPts val="0"/>
              </a:spcAft>
              <a:buSzPts val="1710"/>
              <a:buChar char="-"/>
            </a:pPr>
            <a:r>
              <a:rPr lang="en-US"/>
              <a:t>Harder to understand, more bug-prone, adds more time to debug</a:t>
            </a:r>
            <a:endParaRPr/>
          </a:p>
          <a:p>
            <a:pPr marL="457200" lvl="0" indent="-320040" algn="l" rtl="0">
              <a:spcBef>
                <a:spcPts val="0"/>
              </a:spcBef>
              <a:spcAft>
                <a:spcPts val="0"/>
              </a:spcAft>
              <a:buSzPts val="1440"/>
              <a:buChar char="-"/>
            </a:pPr>
            <a:r>
              <a:rPr lang="en-US"/>
              <a:t>Slower Application Development</a:t>
            </a:r>
            <a:endParaRPr/>
          </a:p>
          <a:p>
            <a:pPr marL="457200" lvl="0" indent="-320040" algn="l" rtl="0">
              <a:spcBef>
                <a:spcPts val="0"/>
              </a:spcBef>
              <a:spcAft>
                <a:spcPts val="0"/>
              </a:spcAft>
              <a:buSzPts val="1440"/>
              <a:buChar char="-"/>
            </a:pPr>
            <a:r>
              <a:rPr lang="en-US"/>
              <a:t>Reduces Developer Collaboration</a:t>
            </a:r>
            <a:endParaRPr/>
          </a:p>
          <a:p>
            <a:pPr marL="457200" lvl="0" indent="-320040" algn="l" rtl="0">
              <a:spcBef>
                <a:spcPts val="0"/>
              </a:spcBef>
              <a:spcAft>
                <a:spcPts val="0"/>
              </a:spcAft>
              <a:buSzPts val="1440"/>
              <a:buChar char="-"/>
            </a:pPr>
            <a:r>
              <a:rPr lang="en-US"/>
              <a:t>Resistance to Change</a:t>
            </a:r>
            <a:endParaRPr/>
          </a:p>
        </p:txBody>
      </p:sp>
      <p:sp>
        <p:nvSpPr>
          <p:cNvPr id="239" name="Google Shape;239;g2962df060c2_1_8"/>
          <p:cNvSpPr txBox="1">
            <a:spLocks noGrp="1"/>
          </p:cNvSpPr>
          <p:nvPr>
            <p:ph type="title"/>
          </p:nvPr>
        </p:nvSpPr>
        <p:spPr>
          <a:xfrm>
            <a:off x="457200" y="274050"/>
            <a:ext cx="8410800" cy="9273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None/>
            </a:pPr>
            <a:r>
              <a:rPr lang="en-US"/>
              <a:t>Why is this an issue?</a:t>
            </a:r>
            <a:endParaRPr/>
          </a:p>
          <a:p>
            <a:pPr marL="0" lvl="0" indent="0" algn="l" rtl="0">
              <a:spcBef>
                <a:spcPts val="0"/>
              </a:spcBef>
              <a:spcAft>
                <a:spcPts val="0"/>
              </a:spcAft>
              <a:buNone/>
            </a:pPr>
            <a:endParaRPr/>
          </a:p>
          <a:p>
            <a:pPr marL="0" lvl="0" indent="0" algn="l" rtl="0">
              <a:spcBef>
                <a:spcPts val="0"/>
              </a:spcBef>
              <a:spcAft>
                <a:spcPts val="0"/>
              </a:spcAft>
              <a:buClr>
                <a:schemeClr val="accent1"/>
              </a:buClr>
              <a:buSzPts val="4000"/>
              <a:buFont typeface="Quattrocento Sans"/>
              <a:buNone/>
            </a:pPr>
            <a:endParaRPr/>
          </a:p>
        </p:txBody>
      </p:sp>
      <p:pic>
        <p:nvPicPr>
          <p:cNvPr id="240" name="Google Shape;240;g2962df060c2_1_8"/>
          <p:cNvPicPr preferRelativeResize="0"/>
          <p:nvPr/>
        </p:nvPicPr>
        <p:blipFill rotWithShape="1">
          <a:blip r:embed="rId4">
            <a:alphaModFix/>
          </a:blip>
          <a:srcRect r="50134" b="27979"/>
          <a:stretch/>
        </p:blipFill>
        <p:spPr>
          <a:xfrm>
            <a:off x="4627500" y="1439200"/>
            <a:ext cx="4516475" cy="3704300"/>
          </a:xfrm>
          <a:prstGeom prst="rect">
            <a:avLst/>
          </a:prstGeom>
          <a:noFill/>
          <a:ln>
            <a:noFill/>
          </a:ln>
        </p:spPr>
      </p:pic>
      <p:pic>
        <p:nvPicPr>
          <p:cNvPr id="241" name="Google Shape;241;g2962df060c2_1_8"/>
          <p:cNvPicPr preferRelativeResize="0"/>
          <p:nvPr/>
        </p:nvPicPr>
        <p:blipFill rotWithShape="1">
          <a:blip r:embed="rId5">
            <a:alphaModFix/>
          </a:blip>
          <a:srcRect/>
          <a:stretch/>
        </p:blipFill>
        <p:spPr>
          <a:xfrm>
            <a:off x="6881325" y="76200"/>
            <a:ext cx="2186473" cy="5239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g2964f44c3a0_0_1"/>
          <p:cNvPicPr preferRelativeResize="0"/>
          <p:nvPr/>
        </p:nvPicPr>
        <p:blipFill rotWithShape="1">
          <a:blip r:embed="rId3">
            <a:alphaModFix/>
          </a:blip>
          <a:srcRect r="10968" b="5820"/>
          <a:stretch/>
        </p:blipFill>
        <p:spPr>
          <a:xfrm>
            <a:off x="0" y="0"/>
            <a:ext cx="9144003" cy="5143499"/>
          </a:xfrm>
          <a:prstGeom prst="rect">
            <a:avLst/>
          </a:prstGeom>
          <a:noFill/>
          <a:ln>
            <a:noFill/>
          </a:ln>
        </p:spPr>
      </p:pic>
      <p:pic>
        <p:nvPicPr>
          <p:cNvPr id="248" name="Google Shape;248;g2964f44c3a0_0_1"/>
          <p:cNvPicPr preferRelativeResize="0"/>
          <p:nvPr/>
        </p:nvPicPr>
        <p:blipFill rotWithShape="1">
          <a:blip r:embed="rId4">
            <a:alphaModFix/>
          </a:blip>
          <a:srcRect/>
          <a:stretch/>
        </p:blipFill>
        <p:spPr>
          <a:xfrm>
            <a:off x="6881325" y="76200"/>
            <a:ext cx="2186473" cy="523900"/>
          </a:xfrm>
          <a:prstGeom prst="rect">
            <a:avLst/>
          </a:prstGeom>
          <a:noFill/>
          <a:ln>
            <a:noFill/>
          </a:ln>
        </p:spPr>
      </p:pic>
      <p:pic>
        <p:nvPicPr>
          <p:cNvPr id="249" name="Google Shape;249;g2964f44c3a0_0_1"/>
          <p:cNvPicPr preferRelativeResize="0"/>
          <p:nvPr/>
        </p:nvPicPr>
        <p:blipFill>
          <a:blip r:embed="rId5">
            <a:alphaModFix/>
          </a:blip>
          <a:stretch>
            <a:fillRect/>
          </a:stretch>
        </p:blipFill>
        <p:spPr>
          <a:xfrm>
            <a:off x="8080245" y="4079747"/>
            <a:ext cx="911350" cy="91135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g294df546f02_0_27"/>
          <p:cNvPicPr preferRelativeResize="0"/>
          <p:nvPr/>
        </p:nvPicPr>
        <p:blipFill>
          <a:blip r:embed="rId3">
            <a:alphaModFix/>
          </a:blip>
          <a:stretch>
            <a:fillRect/>
          </a:stretch>
        </p:blipFill>
        <p:spPr>
          <a:xfrm>
            <a:off x="0" y="0"/>
            <a:ext cx="9144000" cy="5143500"/>
          </a:xfrm>
          <a:prstGeom prst="rect">
            <a:avLst/>
          </a:prstGeom>
          <a:noFill/>
          <a:ln>
            <a:noFill/>
          </a:ln>
        </p:spPr>
      </p:pic>
      <p:sp>
        <p:nvSpPr>
          <p:cNvPr id="255" name="Google Shape;255;g294df546f02_0_27"/>
          <p:cNvSpPr txBox="1">
            <a:spLocks noGrp="1"/>
          </p:cNvSpPr>
          <p:nvPr>
            <p:ph type="body" idx="1"/>
          </p:nvPr>
        </p:nvSpPr>
        <p:spPr>
          <a:xfrm>
            <a:off x="457200" y="1439200"/>
            <a:ext cx="2644200" cy="3525900"/>
          </a:xfrm>
          <a:prstGeom prst="rect">
            <a:avLst/>
          </a:prstGeom>
          <a:noFill/>
          <a:ln>
            <a:noFill/>
          </a:ln>
        </p:spPr>
        <p:txBody>
          <a:bodyPr spcFirstLastPara="1" wrap="square" lIns="91425" tIns="45700" rIns="91425" bIns="45700" anchor="t" anchorCtr="0">
            <a:normAutofit/>
          </a:bodyPr>
          <a:lstStyle/>
          <a:p>
            <a:pPr marL="0" lvl="0" indent="0" algn="l" rtl="0">
              <a:spcBef>
                <a:spcPts val="1560"/>
              </a:spcBef>
              <a:spcAft>
                <a:spcPts val="0"/>
              </a:spcAft>
              <a:buNone/>
            </a:pPr>
            <a:endParaRPr/>
          </a:p>
          <a:p>
            <a:pPr marL="457200" lvl="0" indent="-320040" algn="l" rtl="0">
              <a:spcBef>
                <a:spcPts val="1560"/>
              </a:spcBef>
              <a:spcAft>
                <a:spcPts val="0"/>
              </a:spcAft>
              <a:buSzPts val="1440"/>
              <a:buChar char="-"/>
            </a:pPr>
            <a:r>
              <a:rPr lang="en-US" b="1"/>
              <a:t>Extraction</a:t>
            </a:r>
            <a:endParaRPr b="1"/>
          </a:p>
          <a:p>
            <a:pPr marL="914400" lvl="1" indent="-337185" algn="l" rtl="0">
              <a:spcBef>
                <a:spcPts val="0"/>
              </a:spcBef>
              <a:spcAft>
                <a:spcPts val="0"/>
              </a:spcAft>
              <a:buSzPts val="1710"/>
              <a:buChar char="-"/>
            </a:pPr>
            <a:r>
              <a:rPr lang="en-US"/>
              <a:t>move duplicate code, code checks &lt;- SRP methods</a:t>
            </a:r>
            <a:endParaRPr/>
          </a:p>
          <a:p>
            <a:pPr marL="0" lvl="0" indent="0" algn="l" rtl="0">
              <a:spcBef>
                <a:spcPts val="1560"/>
              </a:spcBef>
              <a:spcAft>
                <a:spcPts val="0"/>
              </a:spcAft>
              <a:buNone/>
            </a:pPr>
            <a:endParaRPr/>
          </a:p>
          <a:p>
            <a:pPr marL="457200" lvl="0" indent="-320040" algn="l" rtl="0">
              <a:spcBef>
                <a:spcPts val="1560"/>
              </a:spcBef>
              <a:spcAft>
                <a:spcPts val="0"/>
              </a:spcAft>
              <a:buSzPts val="1440"/>
              <a:buChar char="-"/>
            </a:pPr>
            <a:r>
              <a:rPr lang="en-US" b="1"/>
              <a:t>Inversion</a:t>
            </a:r>
            <a:endParaRPr b="1"/>
          </a:p>
          <a:p>
            <a:pPr marL="914400" lvl="1" indent="-337185" algn="l" rtl="0">
              <a:spcBef>
                <a:spcPts val="0"/>
              </a:spcBef>
              <a:spcAft>
                <a:spcPts val="0"/>
              </a:spcAft>
              <a:buSzPts val="1710"/>
              <a:buChar char="-"/>
            </a:pPr>
            <a:r>
              <a:rPr lang="en-US"/>
              <a:t>unnesting, making early returns, code checks</a:t>
            </a:r>
            <a:endParaRPr/>
          </a:p>
        </p:txBody>
      </p:sp>
      <p:sp>
        <p:nvSpPr>
          <p:cNvPr id="256" name="Google Shape;256;g294df546f02_0_27"/>
          <p:cNvSpPr txBox="1">
            <a:spLocks noGrp="1"/>
          </p:cNvSpPr>
          <p:nvPr>
            <p:ph type="title"/>
          </p:nvPr>
        </p:nvSpPr>
        <p:spPr>
          <a:xfrm>
            <a:off x="457200" y="274050"/>
            <a:ext cx="8410800" cy="9273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Clr>
                <a:schemeClr val="accent1"/>
              </a:buClr>
              <a:buSzPts val="4000"/>
              <a:buFont typeface="Quattrocento Sans"/>
              <a:buNone/>
            </a:pPr>
            <a:r>
              <a:rPr lang="en-US"/>
              <a:t>Static Code Analysis</a:t>
            </a:r>
            <a:endParaRPr/>
          </a:p>
          <a:p>
            <a:pPr marL="0" lvl="0" indent="0" algn="l" rtl="0">
              <a:spcBef>
                <a:spcPts val="0"/>
              </a:spcBef>
              <a:spcAft>
                <a:spcPts val="0"/>
              </a:spcAft>
              <a:buClr>
                <a:schemeClr val="accent1"/>
              </a:buClr>
              <a:buSzPts val="4000"/>
              <a:buFont typeface="Quattrocento Sans"/>
              <a:buNone/>
            </a:pPr>
            <a:r>
              <a:rPr lang="en-US"/>
              <a:t>Cognitive Complexity - How to remove it?</a:t>
            </a:r>
            <a:endParaRPr/>
          </a:p>
        </p:txBody>
      </p:sp>
      <p:pic>
        <p:nvPicPr>
          <p:cNvPr id="257" name="Google Shape;257;g294df546f02_0_27"/>
          <p:cNvPicPr preferRelativeResize="0"/>
          <p:nvPr/>
        </p:nvPicPr>
        <p:blipFill>
          <a:blip r:embed="rId4">
            <a:alphaModFix/>
          </a:blip>
          <a:stretch>
            <a:fillRect/>
          </a:stretch>
        </p:blipFill>
        <p:spPr>
          <a:xfrm>
            <a:off x="4846500" y="1620400"/>
            <a:ext cx="3650225" cy="2800725"/>
          </a:xfrm>
          <a:prstGeom prst="rect">
            <a:avLst/>
          </a:prstGeom>
          <a:noFill/>
          <a:ln>
            <a:noFill/>
          </a:ln>
        </p:spPr>
      </p:pic>
      <p:pic>
        <p:nvPicPr>
          <p:cNvPr id="258" name="Google Shape;258;g294df546f02_0_27"/>
          <p:cNvPicPr preferRelativeResize="0"/>
          <p:nvPr/>
        </p:nvPicPr>
        <p:blipFill>
          <a:blip r:embed="rId5">
            <a:alphaModFix/>
          </a:blip>
          <a:stretch>
            <a:fillRect/>
          </a:stretch>
        </p:blipFill>
        <p:spPr>
          <a:xfrm>
            <a:off x="7313150" y="3351625"/>
            <a:ext cx="1415599" cy="1415599"/>
          </a:xfrm>
          <a:prstGeom prst="rect">
            <a:avLst/>
          </a:prstGeom>
          <a:noFill/>
          <a:ln>
            <a:noFill/>
          </a:ln>
        </p:spPr>
      </p:pic>
      <p:pic>
        <p:nvPicPr>
          <p:cNvPr id="259" name="Google Shape;259;g294df546f02_0_27"/>
          <p:cNvPicPr preferRelativeResize="0"/>
          <p:nvPr/>
        </p:nvPicPr>
        <p:blipFill>
          <a:blip r:embed="rId6">
            <a:alphaModFix/>
          </a:blip>
          <a:stretch>
            <a:fillRect/>
          </a:stretch>
        </p:blipFill>
        <p:spPr>
          <a:xfrm>
            <a:off x="3340825" y="1991700"/>
            <a:ext cx="989025" cy="1359925"/>
          </a:xfrm>
          <a:prstGeom prst="rect">
            <a:avLst/>
          </a:prstGeom>
          <a:noFill/>
          <a:ln>
            <a:noFill/>
          </a:ln>
        </p:spPr>
      </p:pic>
      <p:pic>
        <p:nvPicPr>
          <p:cNvPr id="260" name="Google Shape;260;g294df546f02_0_27"/>
          <p:cNvPicPr preferRelativeResize="0"/>
          <p:nvPr/>
        </p:nvPicPr>
        <p:blipFill>
          <a:blip r:embed="rId7">
            <a:alphaModFix/>
          </a:blip>
          <a:stretch>
            <a:fillRect/>
          </a:stretch>
        </p:blipFill>
        <p:spPr>
          <a:xfrm>
            <a:off x="3037250" y="3430825"/>
            <a:ext cx="1809243" cy="1415600"/>
          </a:xfrm>
          <a:prstGeom prst="rect">
            <a:avLst/>
          </a:prstGeom>
          <a:noFill/>
          <a:ln>
            <a:noFill/>
          </a:ln>
        </p:spPr>
      </p:pic>
      <p:sp>
        <p:nvSpPr>
          <p:cNvPr id="261" name="Google Shape;261;g294df546f02_0_27"/>
          <p:cNvSpPr txBox="1"/>
          <p:nvPr/>
        </p:nvSpPr>
        <p:spPr>
          <a:xfrm>
            <a:off x="457200" y="1319900"/>
            <a:ext cx="78378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560"/>
              </a:spcBef>
              <a:spcAft>
                <a:spcPts val="0"/>
              </a:spcAft>
              <a:buNone/>
            </a:pPr>
            <a:r>
              <a:rPr lang="en-US" sz="1200">
                <a:solidFill>
                  <a:schemeClr val="lt1"/>
                </a:solidFill>
                <a:latin typeface="Montserrat"/>
                <a:ea typeface="Montserrat"/>
                <a:cs typeface="Montserrat"/>
                <a:sym typeface="Montserrat"/>
              </a:rPr>
              <a:t>Why You Shouldn’t Nest Your Code - CodeAestetic</a:t>
            </a:r>
            <a:endParaRPr sz="1200">
              <a:latin typeface="Montserrat"/>
              <a:ea typeface="Montserrat"/>
              <a:cs typeface="Montserrat"/>
              <a:sym typeface="Montserrat"/>
            </a:endParaRPr>
          </a:p>
        </p:txBody>
      </p:sp>
      <p:pic>
        <p:nvPicPr>
          <p:cNvPr id="262" name="Google Shape;262;g294df546f02_0_27"/>
          <p:cNvPicPr preferRelativeResize="0"/>
          <p:nvPr/>
        </p:nvPicPr>
        <p:blipFill rotWithShape="1">
          <a:blip r:embed="rId8">
            <a:alphaModFix/>
          </a:blip>
          <a:srcRect/>
          <a:stretch/>
        </p:blipFill>
        <p:spPr>
          <a:xfrm>
            <a:off x="6881325" y="76200"/>
            <a:ext cx="2186473" cy="5239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anim calcmode="lin" valueType="num">
                                      <p:cBhvr additive="base">
                                        <p:cTn id="7" dur="1000"/>
                                        <p:tgtEl>
                                          <p:spTgt spid="2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pic>
        <p:nvPicPr>
          <p:cNvPr id="268" name="Google Shape;268;g25e8c80f8d3_0_2"/>
          <p:cNvPicPr preferRelativeResize="0"/>
          <p:nvPr/>
        </p:nvPicPr>
        <p:blipFill rotWithShape="1">
          <a:blip r:embed="rId3">
            <a:alphaModFix/>
          </a:blip>
          <a:srcRect r="18360"/>
          <a:stretch/>
        </p:blipFill>
        <p:spPr>
          <a:xfrm>
            <a:off x="0" y="0"/>
            <a:ext cx="4005898" cy="4865599"/>
          </a:xfrm>
          <a:prstGeom prst="rect">
            <a:avLst/>
          </a:prstGeom>
          <a:noFill/>
          <a:ln>
            <a:noFill/>
          </a:ln>
        </p:spPr>
      </p:pic>
      <p:pic>
        <p:nvPicPr>
          <p:cNvPr id="269" name="Google Shape;269;g25e8c80f8d3_0_2"/>
          <p:cNvPicPr preferRelativeResize="0"/>
          <p:nvPr/>
        </p:nvPicPr>
        <p:blipFill>
          <a:blip r:embed="rId4">
            <a:alphaModFix/>
          </a:blip>
          <a:stretch>
            <a:fillRect/>
          </a:stretch>
        </p:blipFill>
        <p:spPr>
          <a:xfrm>
            <a:off x="5002125" y="1503651"/>
            <a:ext cx="3821799" cy="3614524"/>
          </a:xfrm>
          <a:prstGeom prst="rect">
            <a:avLst/>
          </a:prstGeom>
          <a:noFill/>
          <a:ln>
            <a:noFill/>
          </a:ln>
        </p:spPr>
      </p:pic>
      <p:sp>
        <p:nvSpPr>
          <p:cNvPr id="270" name="Google Shape;270;g25e8c80f8d3_0_2"/>
          <p:cNvSpPr txBox="1"/>
          <p:nvPr/>
        </p:nvSpPr>
        <p:spPr>
          <a:xfrm>
            <a:off x="910900" y="4806450"/>
            <a:ext cx="15762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560"/>
              </a:spcBef>
              <a:spcAft>
                <a:spcPts val="0"/>
              </a:spcAft>
              <a:buNone/>
            </a:pPr>
            <a:r>
              <a:rPr lang="en-US" sz="1200" i="1">
                <a:solidFill>
                  <a:schemeClr val="lt1"/>
                </a:solidFill>
                <a:latin typeface="Montserrat"/>
                <a:ea typeface="Montserrat"/>
                <a:cs typeface="Montserrat"/>
                <a:sym typeface="Montserrat"/>
              </a:rPr>
              <a:t>More lines below…</a:t>
            </a:r>
            <a:endParaRPr sz="1200" i="1">
              <a:latin typeface="Montserrat"/>
              <a:ea typeface="Montserrat"/>
              <a:cs typeface="Montserrat"/>
              <a:sym typeface="Montserrat"/>
            </a:endParaRPr>
          </a:p>
        </p:txBody>
      </p:sp>
      <p:sp>
        <p:nvSpPr>
          <p:cNvPr id="271" name="Google Shape;271;g25e8c80f8d3_0_2"/>
          <p:cNvSpPr/>
          <p:nvPr/>
        </p:nvSpPr>
        <p:spPr>
          <a:xfrm>
            <a:off x="224500" y="372950"/>
            <a:ext cx="3643500" cy="44928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pic>
        <p:nvPicPr>
          <p:cNvPr id="272" name="Google Shape;272;g25e8c80f8d3_0_2"/>
          <p:cNvPicPr preferRelativeResize="0"/>
          <p:nvPr/>
        </p:nvPicPr>
        <p:blipFill>
          <a:blip r:embed="rId5">
            <a:alphaModFix/>
          </a:blip>
          <a:stretch>
            <a:fillRect/>
          </a:stretch>
        </p:blipFill>
        <p:spPr>
          <a:xfrm>
            <a:off x="5002118" y="98793"/>
            <a:ext cx="3584800" cy="1235975"/>
          </a:xfrm>
          <a:prstGeom prst="rect">
            <a:avLst/>
          </a:prstGeom>
          <a:noFill/>
          <a:ln>
            <a:noFill/>
          </a:ln>
        </p:spPr>
      </p:pic>
      <p:sp>
        <p:nvSpPr>
          <p:cNvPr id="273" name="Google Shape;273;g25e8c80f8d3_0_2"/>
          <p:cNvSpPr/>
          <p:nvPr/>
        </p:nvSpPr>
        <p:spPr>
          <a:xfrm>
            <a:off x="6338075" y="3386250"/>
            <a:ext cx="666300" cy="1677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74" name="Google Shape;274;g25e8c80f8d3_0_2"/>
          <p:cNvSpPr/>
          <p:nvPr/>
        </p:nvSpPr>
        <p:spPr>
          <a:xfrm>
            <a:off x="6692675" y="3859200"/>
            <a:ext cx="666300" cy="1677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75" name="Google Shape;275;g25e8c80f8d3_0_2"/>
          <p:cNvSpPr/>
          <p:nvPr/>
        </p:nvSpPr>
        <p:spPr>
          <a:xfrm rot="3390">
            <a:off x="4024749" y="2376831"/>
            <a:ext cx="912600" cy="236700"/>
          </a:xfrm>
          <a:prstGeom prst="rightArrow">
            <a:avLst>
              <a:gd name="adj1" fmla="val 50000"/>
              <a:gd name="adj2" fmla="val 101702"/>
            </a:avLst>
          </a:pr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76" name="Google Shape;276;g25e8c80f8d3_0_2"/>
          <p:cNvSpPr/>
          <p:nvPr/>
        </p:nvSpPr>
        <p:spPr>
          <a:xfrm rot="-10796790">
            <a:off x="831350" y="1098452"/>
            <a:ext cx="642600" cy="166500"/>
          </a:xfrm>
          <a:prstGeom prst="rightArrow">
            <a:avLst>
              <a:gd name="adj1" fmla="val 50000"/>
              <a:gd name="adj2" fmla="val 101702"/>
            </a:avLst>
          </a:pr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77" name="Google Shape;277;g25e8c80f8d3_0_2"/>
          <p:cNvSpPr/>
          <p:nvPr/>
        </p:nvSpPr>
        <p:spPr>
          <a:xfrm rot="-10796790">
            <a:off x="2418800" y="1931477"/>
            <a:ext cx="642600" cy="166500"/>
          </a:xfrm>
          <a:prstGeom prst="rightArrow">
            <a:avLst>
              <a:gd name="adj1" fmla="val 50000"/>
              <a:gd name="adj2" fmla="val 101702"/>
            </a:avLst>
          </a:pr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78" name="Google Shape;278;g25e8c80f8d3_0_2"/>
          <p:cNvSpPr/>
          <p:nvPr/>
        </p:nvSpPr>
        <p:spPr>
          <a:xfrm rot="-10796790">
            <a:off x="2525225" y="2209989"/>
            <a:ext cx="642600" cy="166500"/>
          </a:xfrm>
          <a:prstGeom prst="rightArrow">
            <a:avLst>
              <a:gd name="adj1" fmla="val 50000"/>
              <a:gd name="adj2" fmla="val 101702"/>
            </a:avLst>
          </a:pr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79" name="Google Shape;279;g25e8c80f8d3_0_2"/>
          <p:cNvSpPr/>
          <p:nvPr/>
        </p:nvSpPr>
        <p:spPr>
          <a:xfrm rot="-10796790">
            <a:off x="2094475" y="2488502"/>
            <a:ext cx="642600" cy="166500"/>
          </a:xfrm>
          <a:prstGeom prst="rightArrow">
            <a:avLst>
              <a:gd name="adj1" fmla="val 50000"/>
              <a:gd name="adj2" fmla="val 101702"/>
            </a:avLst>
          </a:pr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1"/>
                                        </p:tgtEl>
                                        <p:attrNameLst>
                                          <p:attrName>style.visibility</p:attrName>
                                        </p:attrNameLst>
                                      </p:cBhvr>
                                      <p:to>
                                        <p:strVal val="visible"/>
                                      </p:to>
                                    </p:set>
                                    <p:anim calcmode="lin" valueType="num">
                                      <p:cBhvr additive="base">
                                        <p:cTn id="7" dur="1000"/>
                                        <p:tgtEl>
                                          <p:spTgt spid="271"/>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275"/>
                                        </p:tgtEl>
                                        <p:attrNameLst>
                                          <p:attrName>style.visibility</p:attrName>
                                        </p:attrNameLst>
                                      </p:cBhvr>
                                      <p:to>
                                        <p:strVal val="visible"/>
                                      </p:to>
                                    </p:set>
                                    <p:anim calcmode="lin" valueType="num">
                                      <p:cBhvr additive="base">
                                        <p:cTn id="10" dur="1000"/>
                                        <p:tgtEl>
                                          <p:spTgt spid="275"/>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273"/>
                                        </p:tgtEl>
                                        <p:attrNameLst>
                                          <p:attrName>style.visibility</p:attrName>
                                        </p:attrNameLst>
                                      </p:cBhvr>
                                      <p:to>
                                        <p:strVal val="visible"/>
                                      </p:to>
                                    </p:set>
                                    <p:anim calcmode="lin" valueType="num">
                                      <p:cBhvr additive="base">
                                        <p:cTn id="15" dur="1000"/>
                                        <p:tgtEl>
                                          <p:spTgt spid="273"/>
                                        </p:tgtEl>
                                        <p:attrNameLst>
                                          <p:attrName>ppt_x</p:attrName>
                                        </p:attrNameLst>
                                      </p:cBhvr>
                                      <p:tavLst>
                                        <p:tav tm="0">
                                          <p:val>
                                            <p:strVal val="#ppt_x+1"/>
                                          </p:val>
                                        </p:tav>
                                        <p:tav tm="100000">
                                          <p:val>
                                            <p:strVal val="#ppt_x"/>
                                          </p:val>
                                        </p:tav>
                                      </p:tavLst>
                                    </p:anim>
                                  </p:childTnLst>
                                </p:cTn>
                              </p:par>
                              <p:par>
                                <p:cTn id="16" presetID="2" presetClass="entr" presetSubtype="2" fill="hold" nodeType="withEffect">
                                  <p:stCondLst>
                                    <p:cond delay="0"/>
                                  </p:stCondLst>
                                  <p:childTnLst>
                                    <p:set>
                                      <p:cBhvr>
                                        <p:cTn id="17" dur="1" fill="hold">
                                          <p:stCondLst>
                                            <p:cond delay="0"/>
                                          </p:stCondLst>
                                        </p:cTn>
                                        <p:tgtEl>
                                          <p:spTgt spid="274"/>
                                        </p:tgtEl>
                                        <p:attrNameLst>
                                          <p:attrName>style.visibility</p:attrName>
                                        </p:attrNameLst>
                                      </p:cBhvr>
                                      <p:to>
                                        <p:strVal val="visible"/>
                                      </p:to>
                                    </p:set>
                                    <p:anim calcmode="lin" valueType="num">
                                      <p:cBhvr additive="base">
                                        <p:cTn id="18" dur="1000"/>
                                        <p:tgtEl>
                                          <p:spTgt spid="274"/>
                                        </p:tgtEl>
                                        <p:attrNameLst>
                                          <p:attrName>ppt_x</p:attrName>
                                        </p:attrNameLst>
                                      </p:cBhvr>
                                      <p:tavLst>
                                        <p:tav tm="0">
                                          <p:val>
                                            <p:strVal val="#ppt_x+1"/>
                                          </p:val>
                                        </p:tav>
                                        <p:tav tm="100000">
                                          <p:val>
                                            <p:strVal val="#ppt_x"/>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277"/>
                                        </p:tgtEl>
                                        <p:attrNameLst>
                                          <p:attrName>style.visibility</p:attrName>
                                        </p:attrNameLst>
                                      </p:cBhvr>
                                      <p:to>
                                        <p:strVal val="visible"/>
                                      </p:to>
                                    </p:set>
                                    <p:anim calcmode="lin" valueType="num">
                                      <p:cBhvr additive="base">
                                        <p:cTn id="23" dur="1000"/>
                                        <p:tgtEl>
                                          <p:spTgt spid="277"/>
                                        </p:tgtEl>
                                        <p:attrNameLst>
                                          <p:attrName>ppt_x</p:attrName>
                                        </p:attrNameLst>
                                      </p:cBhvr>
                                      <p:tavLst>
                                        <p:tav tm="0">
                                          <p:val>
                                            <p:strVal val="#ppt_x+1"/>
                                          </p:val>
                                        </p:tav>
                                        <p:tav tm="100000">
                                          <p:val>
                                            <p:strVal val="#ppt_x"/>
                                          </p:val>
                                        </p:tav>
                                      </p:tavLst>
                                    </p:anim>
                                  </p:childTnLst>
                                </p:cTn>
                              </p:par>
                              <p:par>
                                <p:cTn id="24" presetID="2" presetClass="entr" presetSubtype="2" fill="hold" nodeType="withEffect">
                                  <p:stCondLst>
                                    <p:cond delay="0"/>
                                  </p:stCondLst>
                                  <p:childTnLst>
                                    <p:set>
                                      <p:cBhvr>
                                        <p:cTn id="25" dur="1" fill="hold">
                                          <p:stCondLst>
                                            <p:cond delay="0"/>
                                          </p:stCondLst>
                                        </p:cTn>
                                        <p:tgtEl>
                                          <p:spTgt spid="278"/>
                                        </p:tgtEl>
                                        <p:attrNameLst>
                                          <p:attrName>style.visibility</p:attrName>
                                        </p:attrNameLst>
                                      </p:cBhvr>
                                      <p:to>
                                        <p:strVal val="visible"/>
                                      </p:to>
                                    </p:set>
                                    <p:anim calcmode="lin" valueType="num">
                                      <p:cBhvr additive="base">
                                        <p:cTn id="26" dur="1000"/>
                                        <p:tgtEl>
                                          <p:spTgt spid="278"/>
                                        </p:tgtEl>
                                        <p:attrNameLst>
                                          <p:attrName>ppt_x</p:attrName>
                                        </p:attrNameLst>
                                      </p:cBhvr>
                                      <p:tavLst>
                                        <p:tav tm="0">
                                          <p:val>
                                            <p:strVal val="#ppt_x+1"/>
                                          </p:val>
                                        </p:tav>
                                        <p:tav tm="100000">
                                          <p:val>
                                            <p:strVal val="#ppt_x"/>
                                          </p:val>
                                        </p:tav>
                                      </p:tavLst>
                                    </p:anim>
                                  </p:childTnLst>
                                </p:cTn>
                              </p:par>
                              <p:par>
                                <p:cTn id="27" presetID="2" presetClass="entr" presetSubtype="2" fill="hold" nodeType="withEffect">
                                  <p:stCondLst>
                                    <p:cond delay="0"/>
                                  </p:stCondLst>
                                  <p:childTnLst>
                                    <p:set>
                                      <p:cBhvr>
                                        <p:cTn id="28" dur="1" fill="hold">
                                          <p:stCondLst>
                                            <p:cond delay="0"/>
                                          </p:stCondLst>
                                        </p:cTn>
                                        <p:tgtEl>
                                          <p:spTgt spid="279"/>
                                        </p:tgtEl>
                                        <p:attrNameLst>
                                          <p:attrName>style.visibility</p:attrName>
                                        </p:attrNameLst>
                                      </p:cBhvr>
                                      <p:to>
                                        <p:strVal val="visible"/>
                                      </p:to>
                                    </p:set>
                                    <p:anim calcmode="lin" valueType="num">
                                      <p:cBhvr additive="base">
                                        <p:cTn id="29" dur="1000"/>
                                        <p:tgtEl>
                                          <p:spTgt spid="279"/>
                                        </p:tgtEl>
                                        <p:attrNameLst>
                                          <p:attrName>ppt_x</p:attrName>
                                        </p:attrNameLst>
                                      </p:cBhvr>
                                      <p:tavLst>
                                        <p:tav tm="0">
                                          <p:val>
                                            <p:strVal val="#ppt_x+1"/>
                                          </p:val>
                                        </p:tav>
                                        <p:tav tm="100000">
                                          <p:val>
                                            <p:strVal val="#ppt_x"/>
                                          </p:val>
                                        </p:tav>
                                      </p:tavLst>
                                    </p:anim>
                                  </p:childTnLst>
                                </p:cTn>
                              </p:par>
                              <p:par>
                                <p:cTn id="30" presetID="2" presetClass="entr" presetSubtype="2" fill="hold" nodeType="withEffect">
                                  <p:stCondLst>
                                    <p:cond delay="0"/>
                                  </p:stCondLst>
                                  <p:childTnLst>
                                    <p:set>
                                      <p:cBhvr>
                                        <p:cTn id="31" dur="1" fill="hold">
                                          <p:stCondLst>
                                            <p:cond delay="0"/>
                                          </p:stCondLst>
                                        </p:cTn>
                                        <p:tgtEl>
                                          <p:spTgt spid="276"/>
                                        </p:tgtEl>
                                        <p:attrNameLst>
                                          <p:attrName>style.visibility</p:attrName>
                                        </p:attrNameLst>
                                      </p:cBhvr>
                                      <p:to>
                                        <p:strVal val="visible"/>
                                      </p:to>
                                    </p:set>
                                    <p:anim calcmode="lin" valueType="num">
                                      <p:cBhvr additive="base">
                                        <p:cTn id="32" dur="1000"/>
                                        <p:tgtEl>
                                          <p:spTgt spid="27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Shape 283"/>
        <p:cNvGrpSpPr/>
        <p:nvPr/>
      </p:nvGrpSpPr>
      <p:grpSpPr>
        <a:xfrm>
          <a:off x="0" y="0"/>
          <a:ext cx="0" cy="0"/>
          <a:chOff x="0" y="0"/>
          <a:chExt cx="0" cy="0"/>
        </a:xfrm>
      </p:grpSpPr>
      <p:sp>
        <p:nvSpPr>
          <p:cNvPr id="284" name="Google Shape;284;g294df546f02_0_39"/>
          <p:cNvSpPr txBox="1">
            <a:spLocks noGrp="1"/>
          </p:cNvSpPr>
          <p:nvPr>
            <p:ph type="title"/>
          </p:nvPr>
        </p:nvSpPr>
        <p:spPr>
          <a:xfrm>
            <a:off x="457200" y="274050"/>
            <a:ext cx="7911000" cy="5994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Clr>
                <a:schemeClr val="accent1"/>
              </a:buClr>
              <a:buSzPts val="4000"/>
              <a:buFont typeface="Quattrocento Sans"/>
              <a:buNone/>
            </a:pPr>
            <a:r>
              <a:rPr lang="en-US">
                <a:solidFill>
                  <a:schemeClr val="dk1"/>
                </a:solidFill>
              </a:rPr>
              <a:t>Achieved End Goal</a:t>
            </a:r>
            <a:endParaRPr>
              <a:solidFill>
                <a:schemeClr val="dk1"/>
              </a:solidFill>
            </a:endParaRPr>
          </a:p>
        </p:txBody>
      </p:sp>
      <p:pic>
        <p:nvPicPr>
          <p:cNvPr id="285" name="Google Shape;285;g294df546f02_0_39"/>
          <p:cNvPicPr preferRelativeResize="0"/>
          <p:nvPr/>
        </p:nvPicPr>
        <p:blipFill rotWithShape="1">
          <a:blip r:embed="rId3">
            <a:alphaModFix/>
          </a:blip>
          <a:srcRect/>
          <a:stretch/>
        </p:blipFill>
        <p:spPr>
          <a:xfrm>
            <a:off x="6881325" y="76200"/>
            <a:ext cx="2186473" cy="523900"/>
          </a:xfrm>
          <a:prstGeom prst="rect">
            <a:avLst/>
          </a:prstGeom>
          <a:noFill/>
          <a:ln>
            <a:noFill/>
          </a:ln>
        </p:spPr>
      </p:pic>
      <p:pic>
        <p:nvPicPr>
          <p:cNvPr id="286" name="Google Shape;286;g294df546f02_0_39"/>
          <p:cNvPicPr preferRelativeResize="0"/>
          <p:nvPr/>
        </p:nvPicPr>
        <p:blipFill>
          <a:blip r:embed="rId4">
            <a:alphaModFix/>
          </a:blip>
          <a:stretch>
            <a:fillRect/>
          </a:stretch>
        </p:blipFill>
        <p:spPr>
          <a:xfrm>
            <a:off x="567538" y="873450"/>
            <a:ext cx="8008918" cy="4101351"/>
          </a:xfrm>
          <a:prstGeom prst="rect">
            <a:avLst/>
          </a:prstGeom>
          <a:noFill/>
          <a:ln>
            <a:noFill/>
          </a:ln>
        </p:spPr>
      </p:pic>
      <p:sp>
        <p:nvSpPr>
          <p:cNvPr id="287" name="Google Shape;287;g294df546f02_0_39"/>
          <p:cNvSpPr/>
          <p:nvPr/>
        </p:nvSpPr>
        <p:spPr>
          <a:xfrm>
            <a:off x="6378250" y="3919625"/>
            <a:ext cx="260700" cy="331200"/>
          </a:xfrm>
          <a:prstGeom prst="upArrow">
            <a:avLst>
              <a:gd name="adj1" fmla="val 54181"/>
              <a:gd name="adj2" fmla="val 66667"/>
            </a:avLst>
          </a:prstGeom>
          <a:solidFill>
            <a:srgbClr val="FCFCFD"/>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288" name="Google Shape;288;g294df546f02_0_39"/>
          <p:cNvSpPr txBox="1"/>
          <p:nvPr/>
        </p:nvSpPr>
        <p:spPr>
          <a:xfrm>
            <a:off x="6584650" y="3808175"/>
            <a:ext cx="20241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a:latin typeface="Montserrat"/>
                <a:ea typeface="Montserrat"/>
                <a:cs typeface="Montserrat"/>
                <a:sym typeface="Montserrat"/>
              </a:rPr>
              <a:t>+2.1K New Lines</a:t>
            </a:r>
            <a:endParaRPr sz="1200">
              <a:latin typeface="Montserrat"/>
              <a:ea typeface="Montserrat"/>
              <a:cs typeface="Montserrat"/>
              <a:sym typeface="Montserrat"/>
            </a:endParaRPr>
          </a:p>
          <a:p>
            <a:pPr marL="0" lvl="0" indent="0" algn="l" rtl="0">
              <a:spcBef>
                <a:spcPts val="0"/>
              </a:spcBef>
              <a:spcAft>
                <a:spcPts val="0"/>
              </a:spcAft>
              <a:buNone/>
            </a:pPr>
            <a:r>
              <a:rPr lang="en-US" sz="1200">
                <a:latin typeface="Montserrat"/>
                <a:ea typeface="Montserrat"/>
                <a:cs typeface="Montserrat"/>
                <a:sym typeface="Montserrat"/>
              </a:rPr>
              <a:t>+900 Total Lines</a:t>
            </a:r>
            <a:endParaRPr sz="1200">
              <a:latin typeface="Montserrat"/>
              <a:ea typeface="Montserrat"/>
              <a:cs typeface="Montserrat"/>
              <a:sym typeface="Montserrat"/>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8"/>
                                        </p:tgtEl>
                                        <p:attrNameLst>
                                          <p:attrName>style.visibility</p:attrName>
                                        </p:attrNameLst>
                                      </p:cBhvr>
                                      <p:to>
                                        <p:strVal val="visible"/>
                                      </p:to>
                                    </p:set>
                                    <p:anim calcmode="lin" valueType="num">
                                      <p:cBhvr additive="base">
                                        <p:cTn id="7" dur="1000"/>
                                        <p:tgtEl>
                                          <p:spTgt spid="28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87"/>
                                        </p:tgtEl>
                                        <p:attrNameLst>
                                          <p:attrName>style.visibility</p:attrName>
                                        </p:attrNameLst>
                                      </p:cBhvr>
                                      <p:to>
                                        <p:strVal val="visible"/>
                                      </p:to>
                                    </p:set>
                                    <p:anim calcmode="lin" valueType="num">
                                      <p:cBhvr additive="base">
                                        <p:cTn id="10" dur="1000"/>
                                        <p:tgtEl>
                                          <p:spTgt spid="2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Shape 292"/>
        <p:cNvGrpSpPr/>
        <p:nvPr/>
      </p:nvGrpSpPr>
      <p:grpSpPr>
        <a:xfrm>
          <a:off x="0" y="0"/>
          <a:ext cx="0" cy="0"/>
          <a:chOff x="0" y="0"/>
          <a:chExt cx="0" cy="0"/>
        </a:xfrm>
      </p:grpSpPr>
      <p:sp>
        <p:nvSpPr>
          <p:cNvPr id="293" name="Google Shape;293;g25e8c80f8d3_0_47"/>
          <p:cNvSpPr txBox="1">
            <a:spLocks noGrp="1"/>
          </p:cNvSpPr>
          <p:nvPr>
            <p:ph type="title"/>
          </p:nvPr>
        </p:nvSpPr>
        <p:spPr>
          <a:xfrm>
            <a:off x="457200" y="274050"/>
            <a:ext cx="7911000" cy="5994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Clr>
                <a:schemeClr val="accent1"/>
              </a:buClr>
              <a:buSzPts val="4000"/>
              <a:buFont typeface="Quattrocento Sans"/>
              <a:buNone/>
            </a:pPr>
            <a:r>
              <a:rPr lang="en-US">
                <a:solidFill>
                  <a:schemeClr val="dk1"/>
                </a:solidFill>
              </a:rPr>
              <a:t>Static Code Analysis - Timeline</a:t>
            </a:r>
            <a:endParaRPr>
              <a:solidFill>
                <a:schemeClr val="dk1"/>
              </a:solidFill>
            </a:endParaRPr>
          </a:p>
        </p:txBody>
      </p:sp>
      <p:pic>
        <p:nvPicPr>
          <p:cNvPr id="294" name="Google Shape;294;g25e8c80f8d3_0_47"/>
          <p:cNvPicPr preferRelativeResize="0"/>
          <p:nvPr/>
        </p:nvPicPr>
        <p:blipFill rotWithShape="1">
          <a:blip r:embed="rId3">
            <a:alphaModFix/>
          </a:blip>
          <a:srcRect/>
          <a:stretch/>
        </p:blipFill>
        <p:spPr>
          <a:xfrm>
            <a:off x="6881325" y="76200"/>
            <a:ext cx="2186473" cy="523900"/>
          </a:xfrm>
          <a:prstGeom prst="rect">
            <a:avLst/>
          </a:prstGeom>
          <a:noFill/>
          <a:ln>
            <a:noFill/>
          </a:ln>
        </p:spPr>
      </p:pic>
      <p:pic>
        <p:nvPicPr>
          <p:cNvPr id="295" name="Google Shape;295;g25e8c80f8d3_0_47"/>
          <p:cNvPicPr preferRelativeResize="0"/>
          <p:nvPr/>
        </p:nvPicPr>
        <p:blipFill>
          <a:blip r:embed="rId4">
            <a:alphaModFix/>
          </a:blip>
          <a:stretch>
            <a:fillRect/>
          </a:stretch>
        </p:blipFill>
        <p:spPr>
          <a:xfrm>
            <a:off x="488250" y="1020425"/>
            <a:ext cx="8167500" cy="3965400"/>
          </a:xfrm>
          <a:prstGeom prst="roundRect">
            <a:avLst>
              <a:gd name="adj" fmla="val 9147"/>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g2963e9b7ffc_0_9"/>
          <p:cNvPicPr preferRelativeResize="0"/>
          <p:nvPr/>
        </p:nvPicPr>
        <p:blipFill>
          <a:blip r:embed="rId3">
            <a:alphaModFix amt="10000"/>
          </a:blip>
          <a:stretch>
            <a:fillRect/>
          </a:stretch>
        </p:blipFill>
        <p:spPr>
          <a:xfrm>
            <a:off x="5683050" y="1682550"/>
            <a:ext cx="3232349" cy="3232349"/>
          </a:xfrm>
          <a:prstGeom prst="rect">
            <a:avLst/>
          </a:prstGeom>
          <a:noFill/>
          <a:ln>
            <a:noFill/>
          </a:ln>
        </p:spPr>
      </p:pic>
      <p:sp>
        <p:nvSpPr>
          <p:cNvPr id="301" name="Google Shape;301;g2963e9b7ffc_0_9"/>
          <p:cNvSpPr txBox="1">
            <a:spLocks noGrp="1"/>
          </p:cNvSpPr>
          <p:nvPr>
            <p:ph type="ctrTitle"/>
          </p:nvPr>
        </p:nvSpPr>
        <p:spPr>
          <a:xfrm>
            <a:off x="3537150" y="1578400"/>
            <a:ext cx="5017500" cy="15789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Clr>
                <a:schemeClr val="accent1"/>
              </a:buClr>
              <a:buSzPts val="4000"/>
              <a:buFont typeface="Quattrocento Sans"/>
              <a:buNone/>
            </a:pPr>
            <a:r>
              <a:rPr lang="en-US"/>
              <a:t>Dynamic Code Analysis - Overview</a:t>
            </a:r>
            <a:endParaRPr/>
          </a:p>
        </p:txBody>
      </p:sp>
      <p:pic>
        <p:nvPicPr>
          <p:cNvPr id="302" name="Google Shape;302;g2963e9b7ffc_0_9"/>
          <p:cNvPicPr preferRelativeResize="0"/>
          <p:nvPr/>
        </p:nvPicPr>
        <p:blipFill>
          <a:blip r:embed="rId4">
            <a:alphaModFix/>
          </a:blip>
          <a:stretch>
            <a:fillRect/>
          </a:stretch>
        </p:blipFill>
        <p:spPr>
          <a:xfrm>
            <a:off x="6881325" y="76200"/>
            <a:ext cx="2186473" cy="5239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5"/>
          <p:cNvPicPr preferRelativeResize="0"/>
          <p:nvPr/>
        </p:nvPicPr>
        <p:blipFill>
          <a:blip r:embed="rId3">
            <a:alphaModFix/>
          </a:blip>
          <a:stretch>
            <a:fillRect/>
          </a:stretch>
        </p:blipFill>
        <p:spPr>
          <a:xfrm>
            <a:off x="0" y="0"/>
            <a:ext cx="9144000" cy="5143500"/>
          </a:xfrm>
          <a:prstGeom prst="rect">
            <a:avLst/>
          </a:prstGeom>
          <a:noFill/>
          <a:ln>
            <a:noFill/>
          </a:ln>
        </p:spPr>
      </p:pic>
      <p:sp>
        <p:nvSpPr>
          <p:cNvPr id="308" name="Google Shape;308;p5"/>
          <p:cNvSpPr txBox="1">
            <a:spLocks noGrp="1"/>
          </p:cNvSpPr>
          <p:nvPr>
            <p:ph type="title"/>
          </p:nvPr>
        </p:nvSpPr>
        <p:spPr>
          <a:xfrm>
            <a:off x="457200" y="274046"/>
            <a:ext cx="6275100" cy="599400"/>
          </a:xfrm>
          <a:prstGeom prst="rect">
            <a:avLst/>
          </a:prstGeom>
          <a:noFill/>
          <a:ln>
            <a:noFill/>
          </a:ln>
        </p:spPr>
        <p:txBody>
          <a:bodyPr spcFirstLastPara="1" wrap="square" lIns="0" tIns="45700" rIns="0" bIns="45700" anchor="ctr" anchorCtr="0">
            <a:noAutofit/>
          </a:bodyPr>
          <a:lstStyle/>
          <a:p>
            <a:pPr marL="0" lvl="0" indent="0" algn="l" rtl="0">
              <a:spcBef>
                <a:spcPts val="0"/>
              </a:spcBef>
              <a:spcAft>
                <a:spcPts val="0"/>
              </a:spcAft>
              <a:buClr>
                <a:schemeClr val="accent1"/>
              </a:buClr>
              <a:buSzPts val="4000"/>
              <a:buFont typeface="Quattrocento Sans"/>
              <a:buNone/>
            </a:pPr>
            <a:r>
              <a:rPr lang="en-US"/>
              <a:t>Dynamic Code Analysis</a:t>
            </a:r>
            <a:endParaRPr/>
          </a:p>
        </p:txBody>
      </p:sp>
      <p:pic>
        <p:nvPicPr>
          <p:cNvPr id="309" name="Google Shape;309;p5"/>
          <p:cNvPicPr preferRelativeResize="0"/>
          <p:nvPr/>
        </p:nvPicPr>
        <p:blipFill>
          <a:blip r:embed="rId4">
            <a:alphaModFix/>
          </a:blip>
          <a:stretch>
            <a:fillRect/>
          </a:stretch>
        </p:blipFill>
        <p:spPr>
          <a:xfrm>
            <a:off x="152400" y="1844521"/>
            <a:ext cx="8839198" cy="2255617"/>
          </a:xfrm>
          <a:prstGeom prst="rect">
            <a:avLst/>
          </a:prstGeom>
          <a:noFill/>
          <a:ln>
            <a:noFill/>
          </a:ln>
        </p:spPr>
      </p:pic>
      <p:sp>
        <p:nvSpPr>
          <p:cNvPr id="310" name="Google Shape;310;p5"/>
          <p:cNvSpPr/>
          <p:nvPr/>
        </p:nvSpPr>
        <p:spPr>
          <a:xfrm>
            <a:off x="1661525" y="1844521"/>
            <a:ext cx="2066100" cy="1073979"/>
          </a:xfrm>
          <a:prstGeom prst="roundRect">
            <a:avLst>
              <a:gd name="adj" fmla="val 16667"/>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1" name="Google Shape;311;p5"/>
          <p:cNvSpPr txBox="1"/>
          <p:nvPr/>
        </p:nvSpPr>
        <p:spPr>
          <a:xfrm>
            <a:off x="1854949" y="1477600"/>
            <a:ext cx="1820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solidFill>
                  <a:schemeClr val="lt1"/>
                </a:solidFill>
                <a:latin typeface="Montserrat"/>
                <a:ea typeface="Montserrat"/>
                <a:cs typeface="Montserrat"/>
                <a:sym typeface="Montserrat"/>
              </a:rPr>
              <a:t>Application Start</a:t>
            </a:r>
            <a:endParaRPr dirty="0">
              <a:solidFill>
                <a:schemeClr val="lt1"/>
              </a:solidFill>
              <a:latin typeface="Montserrat"/>
              <a:ea typeface="Montserrat"/>
              <a:cs typeface="Montserrat"/>
              <a:sym typeface="Montserrat"/>
            </a:endParaRPr>
          </a:p>
        </p:txBody>
      </p:sp>
      <p:sp>
        <p:nvSpPr>
          <p:cNvPr id="312" name="Google Shape;312;p5"/>
          <p:cNvSpPr/>
          <p:nvPr/>
        </p:nvSpPr>
        <p:spPr>
          <a:xfrm>
            <a:off x="4371250" y="1950400"/>
            <a:ext cx="1220100" cy="968100"/>
          </a:xfrm>
          <a:prstGeom prst="roundRect">
            <a:avLst>
              <a:gd name="adj" fmla="val 16667"/>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3" name="Google Shape;313;p5"/>
          <p:cNvSpPr txBox="1"/>
          <p:nvPr/>
        </p:nvSpPr>
        <p:spPr>
          <a:xfrm>
            <a:off x="4094453" y="1147492"/>
            <a:ext cx="1781994" cy="83096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dirty="0">
                <a:solidFill>
                  <a:schemeClr val="lt1"/>
                </a:solidFill>
                <a:latin typeface="Montserrat"/>
                <a:ea typeface="Montserrat"/>
                <a:cs typeface="Montserrat"/>
                <a:sym typeface="Montserrat"/>
              </a:rPr>
              <a:t>Edge File Parsing</a:t>
            </a:r>
            <a:endParaRPr dirty="0">
              <a:solidFill>
                <a:schemeClr val="lt1"/>
              </a:solidFill>
              <a:latin typeface="Montserrat"/>
              <a:ea typeface="Montserrat"/>
              <a:cs typeface="Montserrat"/>
              <a:sym typeface="Montserrat"/>
            </a:endParaRPr>
          </a:p>
          <a:p>
            <a:pPr marL="0" lvl="0" indent="0" algn="ctr" rtl="0">
              <a:spcBef>
                <a:spcPts val="0"/>
              </a:spcBef>
              <a:spcAft>
                <a:spcPts val="0"/>
              </a:spcAft>
              <a:buNone/>
            </a:pPr>
            <a:r>
              <a:rPr lang="en-US" dirty="0">
                <a:solidFill>
                  <a:schemeClr val="lt1"/>
                </a:solidFill>
                <a:latin typeface="Montserrat"/>
                <a:ea typeface="Montserrat"/>
                <a:cs typeface="Montserrat"/>
                <a:sym typeface="Montserrat"/>
              </a:rPr>
              <a:t>Screen Setup</a:t>
            </a:r>
            <a:endParaRPr dirty="0">
              <a:solidFill>
                <a:schemeClr val="lt1"/>
              </a:solidFill>
              <a:latin typeface="Montserrat"/>
              <a:ea typeface="Montserrat"/>
              <a:cs typeface="Montserrat"/>
              <a:sym typeface="Montserrat"/>
            </a:endParaRPr>
          </a:p>
          <a:p>
            <a:pPr marL="0" lvl="0" indent="0" algn="ctr" rtl="0">
              <a:spcBef>
                <a:spcPts val="0"/>
              </a:spcBef>
              <a:spcAft>
                <a:spcPts val="0"/>
              </a:spcAft>
              <a:buNone/>
            </a:pPr>
            <a:r>
              <a:rPr lang="en-US" dirty="0">
                <a:solidFill>
                  <a:schemeClr val="lt1"/>
                </a:solidFill>
                <a:latin typeface="Montserrat"/>
                <a:ea typeface="Montserrat"/>
                <a:cs typeface="Montserrat"/>
                <a:sym typeface="Montserrat"/>
              </a:rPr>
              <a:t>Screen Showing</a:t>
            </a:r>
            <a:endParaRPr dirty="0">
              <a:solidFill>
                <a:schemeClr val="lt1"/>
              </a:solidFill>
              <a:latin typeface="Montserrat"/>
              <a:ea typeface="Montserrat"/>
              <a:cs typeface="Montserrat"/>
              <a:sym typeface="Montserrat"/>
            </a:endParaRPr>
          </a:p>
        </p:txBody>
      </p:sp>
      <p:sp>
        <p:nvSpPr>
          <p:cNvPr id="314" name="Google Shape;314;p5"/>
          <p:cNvSpPr/>
          <p:nvPr/>
        </p:nvSpPr>
        <p:spPr>
          <a:xfrm>
            <a:off x="6472725" y="2123850"/>
            <a:ext cx="462600" cy="794700"/>
          </a:xfrm>
          <a:prstGeom prst="roundRect">
            <a:avLst>
              <a:gd name="adj" fmla="val 16667"/>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5" name="Google Shape;315;p5"/>
          <p:cNvSpPr txBox="1"/>
          <p:nvPr/>
        </p:nvSpPr>
        <p:spPr>
          <a:xfrm>
            <a:off x="7755491" y="1296925"/>
            <a:ext cx="14289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dirty="0">
                <a:solidFill>
                  <a:schemeClr val="lt1"/>
                </a:solidFill>
                <a:latin typeface="Montserrat"/>
                <a:ea typeface="Montserrat"/>
                <a:cs typeface="Montserrat"/>
                <a:sym typeface="Montserrat"/>
              </a:rPr>
              <a:t>Application Configuration Saving</a:t>
            </a:r>
            <a:endParaRPr dirty="0">
              <a:solidFill>
                <a:schemeClr val="lt1"/>
              </a:solidFill>
              <a:latin typeface="Montserrat"/>
              <a:ea typeface="Montserrat"/>
              <a:cs typeface="Montserrat"/>
              <a:sym typeface="Montserrat"/>
            </a:endParaRPr>
          </a:p>
        </p:txBody>
      </p:sp>
      <p:sp>
        <p:nvSpPr>
          <p:cNvPr id="316" name="Google Shape;316;p5"/>
          <p:cNvSpPr/>
          <p:nvPr/>
        </p:nvSpPr>
        <p:spPr>
          <a:xfrm>
            <a:off x="8529000" y="2123850"/>
            <a:ext cx="462600" cy="794700"/>
          </a:xfrm>
          <a:prstGeom prst="roundRect">
            <a:avLst>
              <a:gd name="adj" fmla="val 16667"/>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7" name="Google Shape;317;p5"/>
          <p:cNvSpPr txBox="1"/>
          <p:nvPr/>
        </p:nvSpPr>
        <p:spPr>
          <a:xfrm>
            <a:off x="6028849" y="1477600"/>
            <a:ext cx="13443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dirty="0">
                <a:solidFill>
                  <a:schemeClr val="lt1"/>
                </a:solidFill>
                <a:latin typeface="Montserrat"/>
                <a:ea typeface="Montserrat"/>
                <a:cs typeface="Montserrat"/>
                <a:sym typeface="Montserrat"/>
              </a:rPr>
              <a:t>File Exporting</a:t>
            </a:r>
            <a:endParaRPr dirty="0">
              <a:solidFill>
                <a:schemeClr val="lt1"/>
              </a:solidFill>
              <a:latin typeface="Montserrat"/>
              <a:ea typeface="Montserrat"/>
              <a:cs typeface="Montserrat"/>
              <a:sym typeface="Montserrat"/>
            </a:endParaRPr>
          </a:p>
        </p:txBody>
      </p:sp>
      <p:sp>
        <p:nvSpPr>
          <p:cNvPr id="318" name="Google Shape;318;p5"/>
          <p:cNvSpPr/>
          <p:nvPr/>
        </p:nvSpPr>
        <p:spPr>
          <a:xfrm>
            <a:off x="7337100" y="2425750"/>
            <a:ext cx="462600" cy="462600"/>
          </a:xfrm>
          <a:prstGeom prst="roundRect">
            <a:avLst>
              <a:gd name="adj" fmla="val 16667"/>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9" name="Google Shape;319;p5"/>
          <p:cNvSpPr txBox="1"/>
          <p:nvPr/>
        </p:nvSpPr>
        <p:spPr>
          <a:xfrm>
            <a:off x="7084050" y="1950400"/>
            <a:ext cx="9687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000">
                <a:solidFill>
                  <a:schemeClr val="lt1"/>
                </a:solidFill>
                <a:latin typeface="Montserrat"/>
                <a:ea typeface="Montserrat"/>
                <a:cs typeface="Montserrat"/>
                <a:sym typeface="Montserrat"/>
              </a:rPr>
              <a:t>File Export Alert</a:t>
            </a:r>
            <a:endParaRPr sz="1000">
              <a:solidFill>
                <a:schemeClr val="lt1"/>
              </a:solidFill>
              <a:latin typeface="Montserrat"/>
              <a:ea typeface="Montserrat"/>
              <a:cs typeface="Montserrat"/>
              <a:sym typeface="Montserrat"/>
            </a:endParaRPr>
          </a:p>
        </p:txBody>
      </p:sp>
      <p:pic>
        <p:nvPicPr>
          <p:cNvPr id="320" name="Google Shape;320;p5"/>
          <p:cNvPicPr preferRelativeResize="0"/>
          <p:nvPr/>
        </p:nvPicPr>
        <p:blipFill>
          <a:blip r:embed="rId5">
            <a:alphaModFix/>
          </a:blip>
          <a:stretch>
            <a:fillRect/>
          </a:stretch>
        </p:blipFill>
        <p:spPr>
          <a:xfrm>
            <a:off x="152400" y="4252538"/>
            <a:ext cx="4133850" cy="676275"/>
          </a:xfrm>
          <a:prstGeom prst="rect">
            <a:avLst/>
          </a:prstGeom>
          <a:noFill/>
          <a:ln>
            <a:noFill/>
          </a:ln>
        </p:spPr>
      </p:pic>
      <p:pic>
        <p:nvPicPr>
          <p:cNvPr id="321" name="Google Shape;321;p5"/>
          <p:cNvPicPr preferRelativeResize="0"/>
          <p:nvPr/>
        </p:nvPicPr>
        <p:blipFill>
          <a:blip r:embed="rId6">
            <a:alphaModFix/>
          </a:blip>
          <a:stretch>
            <a:fillRect/>
          </a:stretch>
        </p:blipFill>
        <p:spPr>
          <a:xfrm>
            <a:off x="6881325" y="76200"/>
            <a:ext cx="2186473" cy="5239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1"/>
                                        </p:tgtEl>
                                        <p:attrNameLst>
                                          <p:attrName>style.visibility</p:attrName>
                                        </p:attrNameLst>
                                      </p:cBhvr>
                                      <p:to>
                                        <p:strVal val="visible"/>
                                      </p:to>
                                    </p:set>
                                    <p:anim calcmode="lin" valueType="num">
                                      <p:cBhvr additive="base">
                                        <p:cTn id="7" dur="1000"/>
                                        <p:tgtEl>
                                          <p:spTgt spid="311"/>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10"/>
                                        </p:tgtEl>
                                        <p:attrNameLst>
                                          <p:attrName>style.visibility</p:attrName>
                                        </p:attrNameLst>
                                      </p:cBhvr>
                                      <p:to>
                                        <p:strVal val="visible"/>
                                      </p:to>
                                    </p:set>
                                    <p:anim calcmode="lin" valueType="num">
                                      <p:cBhvr additive="base">
                                        <p:cTn id="10" dur="1000"/>
                                        <p:tgtEl>
                                          <p:spTgt spid="310"/>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13"/>
                                        </p:tgtEl>
                                        <p:attrNameLst>
                                          <p:attrName>style.visibility</p:attrName>
                                        </p:attrNameLst>
                                      </p:cBhvr>
                                      <p:to>
                                        <p:strVal val="visible"/>
                                      </p:to>
                                    </p:set>
                                    <p:anim calcmode="lin" valueType="num">
                                      <p:cBhvr additive="base">
                                        <p:cTn id="15" dur="1000"/>
                                        <p:tgtEl>
                                          <p:spTgt spid="313"/>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312"/>
                                        </p:tgtEl>
                                        <p:attrNameLst>
                                          <p:attrName>style.visibility</p:attrName>
                                        </p:attrNameLst>
                                      </p:cBhvr>
                                      <p:to>
                                        <p:strVal val="visible"/>
                                      </p:to>
                                    </p:set>
                                    <p:anim calcmode="lin" valueType="num">
                                      <p:cBhvr additive="base">
                                        <p:cTn id="18" dur="1000"/>
                                        <p:tgtEl>
                                          <p:spTgt spid="312"/>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14"/>
                                        </p:tgtEl>
                                        <p:attrNameLst>
                                          <p:attrName>style.visibility</p:attrName>
                                        </p:attrNameLst>
                                      </p:cBhvr>
                                      <p:to>
                                        <p:strVal val="visible"/>
                                      </p:to>
                                    </p:set>
                                    <p:anim calcmode="lin" valueType="num">
                                      <p:cBhvr additive="base">
                                        <p:cTn id="23" dur="1000"/>
                                        <p:tgtEl>
                                          <p:spTgt spid="314"/>
                                        </p:tgtEl>
                                        <p:attrNameLst>
                                          <p:attrName>ppt_y</p:attrName>
                                        </p:attrNameLst>
                                      </p:cBhvr>
                                      <p:tavLst>
                                        <p:tav tm="0">
                                          <p:val>
                                            <p:strVal val="#ppt_y+1"/>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317"/>
                                        </p:tgtEl>
                                        <p:attrNameLst>
                                          <p:attrName>style.visibility</p:attrName>
                                        </p:attrNameLst>
                                      </p:cBhvr>
                                      <p:to>
                                        <p:strVal val="visible"/>
                                      </p:to>
                                    </p:set>
                                    <p:anim calcmode="lin" valueType="num">
                                      <p:cBhvr additive="base">
                                        <p:cTn id="26" dur="1000"/>
                                        <p:tgtEl>
                                          <p:spTgt spid="3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nodeType="clickEffect">
                                  <p:stCondLst>
                                    <p:cond delay="0"/>
                                  </p:stCondLst>
                                  <p:childTnLst>
                                    <p:set>
                                      <p:cBhvr>
                                        <p:cTn id="30" dur="1" fill="hold">
                                          <p:stCondLst>
                                            <p:cond delay="0"/>
                                          </p:stCondLst>
                                        </p:cTn>
                                        <p:tgtEl>
                                          <p:spTgt spid="315"/>
                                        </p:tgtEl>
                                        <p:attrNameLst>
                                          <p:attrName>style.visibility</p:attrName>
                                        </p:attrNameLst>
                                      </p:cBhvr>
                                      <p:to>
                                        <p:strVal val="visible"/>
                                      </p:to>
                                    </p:set>
                                    <p:anim calcmode="lin" valueType="num">
                                      <p:cBhvr additive="base">
                                        <p:cTn id="31" dur="1000"/>
                                        <p:tgtEl>
                                          <p:spTgt spid="315"/>
                                        </p:tgtEl>
                                        <p:attrNameLst>
                                          <p:attrName>ppt_y</p:attrName>
                                        </p:attrNameLst>
                                      </p:cBhvr>
                                      <p:tavLst>
                                        <p:tav tm="0">
                                          <p:val>
                                            <p:strVal val="#ppt_y-1"/>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316"/>
                                        </p:tgtEl>
                                        <p:attrNameLst>
                                          <p:attrName>style.visibility</p:attrName>
                                        </p:attrNameLst>
                                      </p:cBhvr>
                                      <p:to>
                                        <p:strVal val="visible"/>
                                      </p:to>
                                    </p:set>
                                    <p:anim calcmode="lin" valueType="num">
                                      <p:cBhvr additive="base">
                                        <p:cTn id="34" dur="1000"/>
                                        <p:tgtEl>
                                          <p:spTgt spid="316"/>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1" fill="hold" nodeType="clickEffect">
                                  <p:stCondLst>
                                    <p:cond delay="0"/>
                                  </p:stCondLst>
                                  <p:childTnLst>
                                    <p:set>
                                      <p:cBhvr>
                                        <p:cTn id="38" dur="1" fill="hold">
                                          <p:stCondLst>
                                            <p:cond delay="0"/>
                                          </p:stCondLst>
                                        </p:cTn>
                                        <p:tgtEl>
                                          <p:spTgt spid="319"/>
                                        </p:tgtEl>
                                        <p:attrNameLst>
                                          <p:attrName>style.visibility</p:attrName>
                                        </p:attrNameLst>
                                      </p:cBhvr>
                                      <p:to>
                                        <p:strVal val="visible"/>
                                      </p:to>
                                    </p:set>
                                    <p:anim calcmode="lin" valueType="num">
                                      <p:cBhvr additive="base">
                                        <p:cTn id="39" dur="1000"/>
                                        <p:tgtEl>
                                          <p:spTgt spid="319"/>
                                        </p:tgtEl>
                                        <p:attrNameLst>
                                          <p:attrName>ppt_y</p:attrName>
                                        </p:attrNameLst>
                                      </p:cBhvr>
                                      <p:tavLst>
                                        <p:tav tm="0">
                                          <p:val>
                                            <p:strVal val="#ppt_y-1"/>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318"/>
                                        </p:tgtEl>
                                        <p:attrNameLst>
                                          <p:attrName>style.visibility</p:attrName>
                                        </p:attrNameLst>
                                      </p:cBhvr>
                                      <p:to>
                                        <p:strVal val="visible"/>
                                      </p:to>
                                    </p:set>
                                    <p:anim calcmode="lin" valueType="num">
                                      <p:cBhvr additive="base">
                                        <p:cTn id="42" dur="1000"/>
                                        <p:tgtEl>
                                          <p:spTgt spid="31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20"/>
                                        </p:tgtEl>
                                        <p:attrNameLst>
                                          <p:attrName>style.visibility</p:attrName>
                                        </p:attrNameLst>
                                      </p:cBhvr>
                                      <p:to>
                                        <p:strVal val="visible"/>
                                      </p:to>
                                    </p:set>
                                    <p:anim calcmode="lin" valueType="num">
                                      <p:cBhvr additive="base">
                                        <p:cTn id="47" dur="1000"/>
                                        <p:tgtEl>
                                          <p:spTgt spid="3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g29592dab423_0_19"/>
          <p:cNvSpPr txBox="1">
            <a:spLocks noGrp="1"/>
          </p:cNvSpPr>
          <p:nvPr>
            <p:ph type="title"/>
          </p:nvPr>
        </p:nvSpPr>
        <p:spPr>
          <a:xfrm>
            <a:off x="457200" y="274046"/>
            <a:ext cx="6275100" cy="599400"/>
          </a:xfrm>
          <a:prstGeom prst="rect">
            <a:avLst/>
          </a:prstGeom>
          <a:noFill/>
          <a:ln>
            <a:noFill/>
          </a:ln>
        </p:spPr>
        <p:txBody>
          <a:bodyPr spcFirstLastPara="1" wrap="square" lIns="0" tIns="45700" rIns="0" bIns="45700" anchor="ctr" anchorCtr="0">
            <a:noAutofit/>
          </a:bodyPr>
          <a:lstStyle/>
          <a:p>
            <a:pPr marL="0" lvl="0" indent="0" algn="l" rtl="0">
              <a:spcBef>
                <a:spcPts val="0"/>
              </a:spcBef>
              <a:spcAft>
                <a:spcPts val="0"/>
              </a:spcAft>
              <a:buClr>
                <a:schemeClr val="accent1"/>
              </a:buClr>
              <a:buSzPts val="4000"/>
              <a:buFont typeface="Quattrocento Sans"/>
              <a:buNone/>
            </a:pPr>
            <a:r>
              <a:rPr lang="en-US"/>
              <a:t>Dynamic Code Analysis</a:t>
            </a:r>
            <a:endParaRPr/>
          </a:p>
        </p:txBody>
      </p:sp>
      <p:pic>
        <p:nvPicPr>
          <p:cNvPr id="327" name="Google Shape;327;g29592dab423_0_19"/>
          <p:cNvPicPr preferRelativeResize="0"/>
          <p:nvPr/>
        </p:nvPicPr>
        <p:blipFill>
          <a:blip r:embed="rId3">
            <a:alphaModFix/>
          </a:blip>
          <a:stretch>
            <a:fillRect/>
          </a:stretch>
        </p:blipFill>
        <p:spPr>
          <a:xfrm>
            <a:off x="152400" y="957784"/>
            <a:ext cx="8839200" cy="3006016"/>
          </a:xfrm>
          <a:prstGeom prst="rect">
            <a:avLst/>
          </a:prstGeom>
          <a:noFill/>
          <a:ln>
            <a:noFill/>
          </a:ln>
        </p:spPr>
      </p:pic>
      <p:sp>
        <p:nvSpPr>
          <p:cNvPr id="328" name="Google Shape;328;g29592dab423_0_19"/>
          <p:cNvSpPr txBox="1"/>
          <p:nvPr/>
        </p:nvSpPr>
        <p:spPr>
          <a:xfrm>
            <a:off x="461375" y="4048125"/>
            <a:ext cx="82989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lt1"/>
                </a:solidFill>
                <a:latin typeface="Montserrat"/>
                <a:ea typeface="Montserrat"/>
                <a:cs typeface="Montserrat"/>
                <a:sym typeface="Montserrat"/>
              </a:rPr>
              <a:t>Maximum heap size: </a:t>
            </a:r>
            <a:r>
              <a:rPr lang="en-US">
                <a:solidFill>
                  <a:schemeClr val="accent1"/>
                </a:solidFill>
                <a:latin typeface="Montserrat"/>
                <a:ea typeface="Montserrat"/>
                <a:cs typeface="Montserrat"/>
                <a:sym typeface="Montserrat"/>
              </a:rPr>
              <a:t>50MB</a:t>
            </a:r>
            <a:endParaRPr>
              <a:solidFill>
                <a:schemeClr val="accent1"/>
              </a:solidFill>
              <a:latin typeface="Montserrat"/>
              <a:ea typeface="Montserrat"/>
              <a:cs typeface="Montserrat"/>
              <a:sym typeface="Montserrat"/>
            </a:endParaRPr>
          </a:p>
          <a:p>
            <a:pPr marL="0" lvl="0" indent="0" algn="l" rtl="0">
              <a:spcBef>
                <a:spcPts val="0"/>
              </a:spcBef>
              <a:spcAft>
                <a:spcPts val="0"/>
              </a:spcAft>
              <a:buNone/>
            </a:pPr>
            <a:r>
              <a:rPr lang="en-US">
                <a:solidFill>
                  <a:schemeClr val="lt1"/>
                </a:solidFill>
                <a:latin typeface="Montserrat"/>
                <a:ea typeface="Montserrat"/>
                <a:cs typeface="Montserrat"/>
                <a:sym typeface="Montserrat"/>
              </a:rPr>
              <a:t>Problem Solver’s cumulative size: </a:t>
            </a:r>
            <a:r>
              <a:rPr lang="en-US">
                <a:solidFill>
                  <a:schemeClr val="accent1"/>
                </a:solidFill>
                <a:latin typeface="Montserrat"/>
                <a:ea typeface="Montserrat"/>
                <a:cs typeface="Montserrat"/>
                <a:sym typeface="Montserrat"/>
              </a:rPr>
              <a:t>12MB</a:t>
            </a:r>
            <a:endParaRPr>
              <a:solidFill>
                <a:schemeClr val="accent1"/>
              </a:solidFill>
              <a:latin typeface="Montserrat"/>
              <a:ea typeface="Montserrat"/>
              <a:cs typeface="Montserrat"/>
              <a:sym typeface="Montserrat"/>
            </a:endParaRPr>
          </a:p>
          <a:p>
            <a:pPr marL="0" lvl="0" indent="0" algn="l" rtl="0">
              <a:spcBef>
                <a:spcPts val="0"/>
              </a:spcBef>
              <a:spcAft>
                <a:spcPts val="0"/>
              </a:spcAft>
              <a:buNone/>
            </a:pPr>
            <a:r>
              <a:rPr lang="en-US">
                <a:solidFill>
                  <a:schemeClr val="lt1"/>
                </a:solidFill>
                <a:latin typeface="Montserrat"/>
                <a:ea typeface="Montserrat"/>
                <a:cs typeface="Montserrat"/>
                <a:sym typeface="Montserrat"/>
              </a:rPr>
              <a:t>Threads: </a:t>
            </a:r>
            <a:r>
              <a:rPr lang="en-US">
                <a:solidFill>
                  <a:schemeClr val="accent1"/>
                </a:solidFill>
                <a:latin typeface="Montserrat"/>
                <a:ea typeface="Montserrat"/>
                <a:cs typeface="Montserrat"/>
                <a:sym typeface="Montserrat"/>
              </a:rPr>
              <a:t>19-20</a:t>
            </a:r>
            <a:endParaRPr>
              <a:solidFill>
                <a:schemeClr val="accent1"/>
              </a:solidFill>
              <a:latin typeface="Montserrat"/>
              <a:ea typeface="Montserrat"/>
              <a:cs typeface="Montserrat"/>
              <a:sym typeface="Montserrat"/>
            </a:endParaRPr>
          </a:p>
        </p:txBody>
      </p:sp>
      <p:pic>
        <p:nvPicPr>
          <p:cNvPr id="329" name="Google Shape;329;g29592dab423_0_19"/>
          <p:cNvPicPr preferRelativeResize="0"/>
          <p:nvPr/>
        </p:nvPicPr>
        <p:blipFill>
          <a:blip r:embed="rId4">
            <a:alphaModFix/>
          </a:blip>
          <a:stretch>
            <a:fillRect/>
          </a:stretch>
        </p:blipFill>
        <p:spPr>
          <a:xfrm>
            <a:off x="6881325" y="76200"/>
            <a:ext cx="2186473" cy="523900"/>
          </a:xfrm>
          <a:prstGeom prst="rect">
            <a:avLst/>
          </a:prstGeom>
          <a:noFill/>
          <a:ln>
            <a:noFill/>
          </a:ln>
        </p:spPr>
      </p:pic>
      <p:pic>
        <p:nvPicPr>
          <p:cNvPr id="330" name="Google Shape;330;g29592dab423_0_19"/>
          <p:cNvPicPr preferRelativeResize="0"/>
          <p:nvPr/>
        </p:nvPicPr>
        <p:blipFill>
          <a:blip r:embed="rId5">
            <a:alphaModFix/>
          </a:blip>
          <a:stretch>
            <a:fillRect/>
          </a:stretch>
        </p:blipFill>
        <p:spPr>
          <a:xfrm>
            <a:off x="0" y="0"/>
            <a:ext cx="9144000" cy="51435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pic>
        <p:nvPicPr>
          <p:cNvPr id="335" name="Google Shape;335;p7"/>
          <p:cNvPicPr preferRelativeResize="0"/>
          <p:nvPr/>
        </p:nvPicPr>
        <p:blipFill>
          <a:blip r:embed="rId3">
            <a:alphaModFix/>
          </a:blip>
          <a:stretch>
            <a:fillRect/>
          </a:stretch>
        </p:blipFill>
        <p:spPr>
          <a:xfrm>
            <a:off x="0" y="0"/>
            <a:ext cx="9144000" cy="5143500"/>
          </a:xfrm>
          <a:prstGeom prst="rect">
            <a:avLst/>
          </a:prstGeom>
          <a:noFill/>
          <a:ln>
            <a:noFill/>
          </a:ln>
        </p:spPr>
      </p:pic>
      <p:sp>
        <p:nvSpPr>
          <p:cNvPr id="336" name="Google Shape;336;p7"/>
          <p:cNvSpPr txBox="1">
            <a:spLocks noGrp="1"/>
          </p:cNvSpPr>
          <p:nvPr>
            <p:ph type="title"/>
          </p:nvPr>
        </p:nvSpPr>
        <p:spPr>
          <a:xfrm>
            <a:off x="457200" y="274046"/>
            <a:ext cx="6635100" cy="599400"/>
          </a:xfrm>
          <a:prstGeom prst="rect">
            <a:avLst/>
          </a:prstGeom>
          <a:noFill/>
          <a:ln>
            <a:noFill/>
          </a:ln>
        </p:spPr>
        <p:txBody>
          <a:bodyPr spcFirstLastPara="1" wrap="square" lIns="0" tIns="45700" rIns="0" bIns="45700" anchor="ctr" anchorCtr="0">
            <a:noAutofit/>
          </a:bodyPr>
          <a:lstStyle/>
          <a:p>
            <a:pPr marL="0" lvl="0" indent="0" algn="l" rtl="0">
              <a:spcBef>
                <a:spcPts val="0"/>
              </a:spcBef>
              <a:spcAft>
                <a:spcPts val="0"/>
              </a:spcAft>
              <a:buClr>
                <a:schemeClr val="accent1"/>
              </a:buClr>
              <a:buSzPts val="4000"/>
              <a:buFont typeface="Quattrocento Sans"/>
              <a:buNone/>
            </a:pPr>
            <a:r>
              <a:rPr lang="en-US"/>
              <a:t>Dynamic Code Analysis</a:t>
            </a:r>
            <a:endParaRPr/>
          </a:p>
        </p:txBody>
      </p:sp>
      <p:sp>
        <p:nvSpPr>
          <p:cNvPr id="337" name="Google Shape;337;p7"/>
          <p:cNvSpPr txBox="1">
            <a:spLocks noGrp="1"/>
          </p:cNvSpPr>
          <p:nvPr>
            <p:ph type="body" idx="1"/>
          </p:nvPr>
        </p:nvSpPr>
        <p:spPr>
          <a:xfrm>
            <a:off x="457200" y="1200150"/>
            <a:ext cx="8229600" cy="3429000"/>
          </a:xfrm>
          <a:prstGeom prst="roundRect">
            <a:avLst>
              <a:gd name="adj" fmla="val 4050"/>
            </a:avLst>
          </a:prstGeom>
          <a:solidFill>
            <a:srgbClr val="141618"/>
          </a:solidFill>
          <a:ln>
            <a:noFill/>
          </a:ln>
        </p:spPr>
        <p:txBody>
          <a:bodyPr spcFirstLastPara="1" wrap="square" lIns="91425" tIns="45700" rIns="91425" bIns="45700" anchor="t" anchorCtr="0">
            <a:normAutofit/>
          </a:bodyPr>
          <a:lstStyle/>
          <a:p>
            <a:pPr marL="64008" lvl="0" indent="0" algn="l" rtl="0">
              <a:spcBef>
                <a:spcPts val="0"/>
              </a:spcBef>
              <a:spcAft>
                <a:spcPts val="0"/>
              </a:spcAft>
              <a:buSzPts val="2240"/>
              <a:buNone/>
            </a:pPr>
            <a:r>
              <a:rPr lang="en-US"/>
              <a:t>Some of the Methods with high CPU time usage</a:t>
            </a:r>
            <a:endParaRPr/>
          </a:p>
        </p:txBody>
      </p:sp>
      <p:pic>
        <p:nvPicPr>
          <p:cNvPr id="338" name="Google Shape;338;p7"/>
          <p:cNvPicPr preferRelativeResize="0"/>
          <p:nvPr/>
        </p:nvPicPr>
        <p:blipFill rotWithShape="1">
          <a:blip r:embed="rId4">
            <a:alphaModFix/>
          </a:blip>
          <a:srcRect t="43301"/>
          <a:stretch/>
        </p:blipFill>
        <p:spPr>
          <a:xfrm>
            <a:off x="457200" y="1779056"/>
            <a:ext cx="7124700" cy="297025"/>
          </a:xfrm>
          <a:prstGeom prst="rect">
            <a:avLst/>
          </a:prstGeom>
          <a:noFill/>
          <a:ln>
            <a:noFill/>
          </a:ln>
        </p:spPr>
      </p:pic>
      <p:pic>
        <p:nvPicPr>
          <p:cNvPr id="339" name="Google Shape;339;p7"/>
          <p:cNvPicPr preferRelativeResize="0"/>
          <p:nvPr/>
        </p:nvPicPr>
        <p:blipFill rotWithShape="1">
          <a:blip r:embed="rId5">
            <a:alphaModFix/>
          </a:blip>
          <a:srcRect l="457" t="19652"/>
          <a:stretch/>
        </p:blipFill>
        <p:spPr>
          <a:xfrm>
            <a:off x="457200" y="2076083"/>
            <a:ext cx="6234500" cy="343450"/>
          </a:xfrm>
          <a:prstGeom prst="rect">
            <a:avLst/>
          </a:prstGeom>
          <a:noFill/>
          <a:ln>
            <a:noFill/>
          </a:ln>
        </p:spPr>
      </p:pic>
      <p:pic>
        <p:nvPicPr>
          <p:cNvPr id="340" name="Google Shape;340;p7"/>
          <p:cNvPicPr preferRelativeResize="0"/>
          <p:nvPr/>
        </p:nvPicPr>
        <p:blipFill rotWithShape="1">
          <a:blip r:embed="rId6">
            <a:alphaModFix/>
          </a:blip>
          <a:srcRect l="941" t="7166"/>
          <a:stretch/>
        </p:blipFill>
        <p:spPr>
          <a:xfrm>
            <a:off x="457200" y="2419533"/>
            <a:ext cx="7000826" cy="857675"/>
          </a:xfrm>
          <a:prstGeom prst="rect">
            <a:avLst/>
          </a:prstGeom>
          <a:noFill/>
          <a:ln>
            <a:noFill/>
          </a:ln>
        </p:spPr>
      </p:pic>
      <p:pic>
        <p:nvPicPr>
          <p:cNvPr id="341" name="Google Shape;341;p7"/>
          <p:cNvPicPr preferRelativeResize="0"/>
          <p:nvPr/>
        </p:nvPicPr>
        <p:blipFill rotWithShape="1">
          <a:blip r:embed="rId7">
            <a:alphaModFix/>
          </a:blip>
          <a:srcRect l="1816" b="47005"/>
          <a:stretch/>
        </p:blipFill>
        <p:spPr>
          <a:xfrm>
            <a:off x="457200" y="3276608"/>
            <a:ext cx="3572475" cy="318000"/>
          </a:xfrm>
          <a:prstGeom prst="rect">
            <a:avLst/>
          </a:prstGeom>
          <a:noFill/>
          <a:ln>
            <a:noFill/>
          </a:ln>
        </p:spPr>
      </p:pic>
      <p:pic>
        <p:nvPicPr>
          <p:cNvPr id="342" name="Google Shape;342;p7"/>
          <p:cNvPicPr preferRelativeResize="0"/>
          <p:nvPr/>
        </p:nvPicPr>
        <p:blipFill rotWithShape="1">
          <a:blip r:embed="rId8">
            <a:alphaModFix/>
          </a:blip>
          <a:srcRect l="3595" t="17144" b="21426"/>
          <a:stretch/>
        </p:blipFill>
        <p:spPr>
          <a:xfrm>
            <a:off x="481345" y="3594608"/>
            <a:ext cx="3461775" cy="409575"/>
          </a:xfrm>
          <a:prstGeom prst="rect">
            <a:avLst/>
          </a:prstGeom>
          <a:noFill/>
          <a:ln>
            <a:noFill/>
          </a:ln>
        </p:spPr>
      </p:pic>
      <p:pic>
        <p:nvPicPr>
          <p:cNvPr id="343" name="Google Shape;343;p7"/>
          <p:cNvPicPr preferRelativeResize="0"/>
          <p:nvPr/>
        </p:nvPicPr>
        <p:blipFill>
          <a:blip r:embed="rId9">
            <a:alphaModFix/>
          </a:blip>
          <a:stretch>
            <a:fillRect/>
          </a:stretch>
        </p:blipFill>
        <p:spPr>
          <a:xfrm>
            <a:off x="6881325" y="76200"/>
            <a:ext cx="2186473" cy="5239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9592dab423_0_83"/>
          <p:cNvSpPr txBox="1">
            <a:spLocks noGrp="1"/>
          </p:cNvSpPr>
          <p:nvPr>
            <p:ph type="ctrTitle" idx="4294967295"/>
          </p:nvPr>
        </p:nvSpPr>
        <p:spPr>
          <a:xfrm>
            <a:off x="823850" y="621275"/>
            <a:ext cx="6335700" cy="1419600"/>
          </a:xfrm>
          <a:prstGeom prst="rect">
            <a:avLst/>
          </a:prstGeom>
          <a:noFill/>
          <a:ln>
            <a:noFill/>
          </a:ln>
        </p:spPr>
        <p:txBody>
          <a:bodyPr spcFirstLastPara="1" wrap="square" lIns="0" tIns="45700" rIns="0" bIns="45700" anchor="b" anchorCtr="0">
            <a:noAutofit/>
          </a:bodyPr>
          <a:lstStyle/>
          <a:p>
            <a:pPr marL="182880" lvl="0" indent="0" algn="l" rtl="0">
              <a:spcBef>
                <a:spcPts val="0"/>
              </a:spcBef>
              <a:spcAft>
                <a:spcPts val="0"/>
              </a:spcAft>
              <a:buClr>
                <a:schemeClr val="dk2"/>
              </a:buClr>
              <a:buSzPts val="4500"/>
              <a:buFont typeface="Quattrocento Sans"/>
              <a:buNone/>
            </a:pPr>
            <a:r>
              <a:rPr lang="en-US" sz="4000">
                <a:solidFill>
                  <a:schemeClr val="accent1"/>
                </a:solidFill>
              </a:rPr>
              <a:t>Queryfier</a:t>
            </a:r>
            <a:endParaRPr sz="4000">
              <a:solidFill>
                <a:schemeClr val="accent1"/>
              </a:solidFill>
            </a:endParaRPr>
          </a:p>
          <a:p>
            <a:pPr marL="182880" lvl="0" indent="0" algn="l" rtl="0">
              <a:spcBef>
                <a:spcPts val="0"/>
              </a:spcBef>
              <a:spcAft>
                <a:spcPts val="0"/>
              </a:spcAft>
              <a:buClr>
                <a:schemeClr val="dk2"/>
              </a:buClr>
              <a:buSzPts val="4500"/>
              <a:buFont typeface="Quattrocento Sans"/>
              <a:buNone/>
            </a:pPr>
            <a:r>
              <a:rPr lang="en-US" sz="4000" b="0"/>
              <a:t>Code Analysis Report</a:t>
            </a:r>
            <a:endParaRPr sz="4000" b="0"/>
          </a:p>
        </p:txBody>
      </p:sp>
      <p:sp>
        <p:nvSpPr>
          <p:cNvPr id="350" name="Google Shape;350;g29592dab423_0_83"/>
          <p:cNvSpPr txBox="1">
            <a:spLocks noGrp="1"/>
          </p:cNvSpPr>
          <p:nvPr>
            <p:ph type="subTitle" idx="4294967295"/>
          </p:nvPr>
        </p:nvSpPr>
        <p:spPr>
          <a:xfrm>
            <a:off x="823862" y="2887249"/>
            <a:ext cx="6623700" cy="925800"/>
          </a:xfrm>
          <a:prstGeom prst="rect">
            <a:avLst/>
          </a:prstGeom>
          <a:noFill/>
          <a:ln>
            <a:noFill/>
          </a:ln>
        </p:spPr>
        <p:txBody>
          <a:bodyPr spcFirstLastPara="1" wrap="square" lIns="91425" tIns="45700" rIns="91425" bIns="45700" anchor="t" anchorCtr="0">
            <a:normAutofit/>
          </a:bodyPr>
          <a:lstStyle/>
          <a:p>
            <a:pPr marL="0" lvl="0" indent="0" algn="l" rtl="0">
              <a:spcBef>
                <a:spcPts val="1000"/>
              </a:spcBef>
              <a:spcAft>
                <a:spcPts val="0"/>
              </a:spcAft>
              <a:buSzPts val="2240"/>
              <a:buNone/>
            </a:pPr>
            <a:r>
              <a:rPr lang="en-US" sz="1600">
                <a:latin typeface="Montserrat"/>
                <a:ea typeface="Montserrat"/>
                <a:cs typeface="Montserrat"/>
                <a:sym typeface="Montserrat"/>
              </a:rPr>
              <a:t>Group 6: </a:t>
            </a:r>
            <a:r>
              <a:rPr lang="en-US" sz="1600">
                <a:solidFill>
                  <a:schemeClr val="accent1"/>
                </a:solidFill>
                <a:latin typeface="Montserrat"/>
                <a:ea typeface="Montserrat"/>
                <a:cs typeface="Montserrat"/>
                <a:sym typeface="Montserrat"/>
              </a:rPr>
              <a:t>The Sixth Sense</a:t>
            </a:r>
            <a:endParaRPr sz="1600">
              <a:solidFill>
                <a:schemeClr val="accent1"/>
              </a:solidFill>
              <a:latin typeface="Montserrat"/>
              <a:ea typeface="Montserrat"/>
              <a:cs typeface="Montserrat"/>
              <a:sym typeface="Montserrat"/>
            </a:endParaRPr>
          </a:p>
          <a:p>
            <a:pPr marL="0" lvl="0" indent="0" algn="l" rtl="0">
              <a:spcBef>
                <a:spcPts val="1000"/>
              </a:spcBef>
              <a:spcAft>
                <a:spcPts val="0"/>
              </a:spcAft>
              <a:buSzPts val="2240"/>
              <a:buNone/>
            </a:pPr>
            <a:r>
              <a:rPr lang="en-US">
                <a:solidFill>
                  <a:srgbClr val="CCCCCC"/>
                </a:solidFill>
                <a:latin typeface="Montserrat"/>
                <a:ea typeface="Montserrat"/>
                <a:cs typeface="Montserrat"/>
                <a:sym typeface="Montserrat"/>
              </a:rPr>
              <a:t>Swen Grgičević, Doroteja Krtalić, Michel Brassard, Petra Cesar, Divna Mijić</a:t>
            </a:r>
            <a:endParaRPr>
              <a:solidFill>
                <a:srgbClr val="CCCCCC"/>
              </a:solidFill>
              <a:latin typeface="Montserrat"/>
              <a:ea typeface="Montserrat"/>
              <a:cs typeface="Montserrat"/>
              <a:sym typeface="Montserrat"/>
            </a:endParaRPr>
          </a:p>
        </p:txBody>
      </p:sp>
      <p:sp>
        <p:nvSpPr>
          <p:cNvPr id="351" name="Google Shape;351;g29592dab423_0_83"/>
          <p:cNvSpPr txBox="1">
            <a:spLocks noGrp="1"/>
          </p:cNvSpPr>
          <p:nvPr>
            <p:ph type="ctrTitle" idx="4294967295"/>
          </p:nvPr>
        </p:nvSpPr>
        <p:spPr>
          <a:xfrm>
            <a:off x="1404150" y="3399875"/>
            <a:ext cx="6335700" cy="1419600"/>
          </a:xfrm>
          <a:prstGeom prst="rect">
            <a:avLst/>
          </a:prstGeom>
          <a:noFill/>
          <a:ln>
            <a:noFill/>
          </a:ln>
        </p:spPr>
        <p:txBody>
          <a:bodyPr spcFirstLastPara="1" wrap="square" lIns="0" tIns="45700" rIns="0" bIns="45700" anchor="b" anchorCtr="0">
            <a:noAutofit/>
          </a:bodyPr>
          <a:lstStyle/>
          <a:p>
            <a:pPr marL="182880" lvl="0" indent="0" algn="ctr" rtl="0">
              <a:spcBef>
                <a:spcPts val="0"/>
              </a:spcBef>
              <a:spcAft>
                <a:spcPts val="0"/>
              </a:spcAft>
              <a:buClr>
                <a:schemeClr val="dk2"/>
              </a:buClr>
              <a:buSzPts val="4500"/>
              <a:buFont typeface="Quattrocento Sans"/>
              <a:buNone/>
            </a:pPr>
            <a:r>
              <a:rPr lang="en-US" sz="4000"/>
              <a:t>The</a:t>
            </a:r>
            <a:r>
              <a:rPr lang="en-US" sz="4000">
                <a:solidFill>
                  <a:schemeClr val="accent1"/>
                </a:solidFill>
              </a:rPr>
              <a:t> End</a:t>
            </a:r>
            <a:endParaRPr sz="4000" b="0"/>
          </a:p>
        </p:txBody>
      </p:sp>
      <p:pic>
        <p:nvPicPr>
          <p:cNvPr id="352" name="Google Shape;352;g29592dab423_0_83"/>
          <p:cNvPicPr preferRelativeResize="0"/>
          <p:nvPr/>
        </p:nvPicPr>
        <p:blipFill rotWithShape="1">
          <a:blip r:embed="rId3">
            <a:alphaModFix amt="20000"/>
          </a:blip>
          <a:srcRect l="51630"/>
          <a:stretch/>
        </p:blipFill>
        <p:spPr>
          <a:xfrm>
            <a:off x="0" y="2298100"/>
            <a:ext cx="1310525" cy="27093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Focus">
  <a:themeElements>
    <a:clrScheme name="Focus">
      <a:dk1>
        <a:srgbClr val="222222"/>
      </a:dk1>
      <a:lt1>
        <a:srgbClr val="FFFFFF"/>
      </a:lt1>
      <a:dk2>
        <a:srgbClr val="D9D9D9"/>
      </a:dk2>
      <a:lt2>
        <a:srgbClr val="232F3C"/>
      </a:lt2>
      <a:accent1>
        <a:srgbClr val="6EADF7"/>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1115</Words>
  <Application>Microsoft Office PowerPoint</Application>
  <PresentationFormat>On-screen Show (16:9)</PresentationFormat>
  <Paragraphs>113</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Montserrat</vt:lpstr>
      <vt:lpstr>Calibri</vt:lpstr>
      <vt:lpstr>Lato</vt:lpstr>
      <vt:lpstr>Arial</vt:lpstr>
      <vt:lpstr>Quattrocento Sans</vt:lpstr>
      <vt:lpstr>Focus</vt:lpstr>
      <vt:lpstr>Queryfier Code Analysis Report</vt:lpstr>
      <vt:lpstr>Outline</vt:lpstr>
      <vt:lpstr>Tools &amp; Technologies</vt:lpstr>
      <vt:lpstr>Static Code Analysis - Overview</vt:lpstr>
      <vt:lpstr>Starting Point</vt:lpstr>
      <vt:lpstr>What did the analyzers find?</vt:lpstr>
      <vt:lpstr>Cognitive Complexity</vt:lpstr>
      <vt:lpstr>SonarQube Analysis</vt:lpstr>
      <vt:lpstr>What is Cognitive Complexity?</vt:lpstr>
      <vt:lpstr>Why is this an issue?  </vt:lpstr>
      <vt:lpstr>PowerPoint Presentation</vt:lpstr>
      <vt:lpstr>Static Code Analysis Cognitive Complexity - How to remove it?</vt:lpstr>
      <vt:lpstr>PowerPoint Presentation</vt:lpstr>
      <vt:lpstr>Achieved End Goal</vt:lpstr>
      <vt:lpstr>Static Code Analysis - Timeline</vt:lpstr>
      <vt:lpstr>Dynamic Code Analysis - Overview</vt:lpstr>
      <vt:lpstr>Dynamic Code Analysis</vt:lpstr>
      <vt:lpstr>Dynamic Code Analysis</vt:lpstr>
      <vt:lpstr>Dynamic Code Analysis</vt:lpstr>
      <vt:lpstr>Queryfier Code Analysis Report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Queryfier Code Analysis Report</dc:title>
  <dc:creator>Microsoft Office User</dc:creator>
  <cp:lastModifiedBy>Swen Grgicevic</cp:lastModifiedBy>
  <cp:revision>5</cp:revision>
  <dcterms:created xsi:type="dcterms:W3CDTF">2018-12-05T08:19:50Z</dcterms:created>
  <dcterms:modified xsi:type="dcterms:W3CDTF">2023-11-02T22:41:26Z</dcterms:modified>
</cp:coreProperties>
</file>